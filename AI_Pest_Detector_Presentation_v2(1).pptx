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saveSubsetFonts="1">
  <p:sldMasterIdLst>
    <p:sldMasterId id="2147483652" r:id="rId1"/>
  </p:sldMasterIdLst>
  <p:notesMasterIdLst>
    <p:notesMasterId r:id="rId2"/>
  </p:notesMasterIdLst>
  <p:sldIdLst>
    <p:sldId id="306" r:id="rId3"/>
    <p:sldId id="307" r:id="rId4"/>
    <p:sldId id="308" r:id="rId5"/>
    <p:sldId id="309" r:id="rId6"/>
    <p:sldId id="310" r:id="rId7"/>
    <p:sldId id="311" r:id="rId8"/>
    <p:sldId id="312" r:id="rId9"/>
    <p:sldId id="313" r:id="rId10"/>
    <p:sldId id="314" r:id="rId11"/>
    <p:sldId id="315" r:id="rId12"/>
    <p:sldId id="318" r:id="rId13"/>
    <p:sldId id="319" r:id="rId14"/>
  </p:sldIdLst>
  <p:sldSz cy="5143500" cx="9144000"/>
  <p:notesSz cx="5143500" cy="9144000"/>
  <p:defaultTextStyle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tableStyles" Target="tableStyles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3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24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/>
        </p:spPr>
        <p:txBody>
          <a:bodyPr bIns="45720" lIns="91440" rIns="91440" rtlCol="0" tIns="45720" vert="horz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1048825" name="Slide Image Placeholder 3"/>
          <p:cNvSpPr>
            <a:spLocks noChangeAspect="1" noRot="1" noGrp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/>
          <a:noFill/>
          <a:ln w="12700">
            <a:solidFill>
              <a:prstClr val="black"/>
            </a:solidFill>
          </a:ln>
        </p:spPr>
        <p:txBody>
          <a:bodyPr anchor="ctr" bIns="45720" lIns="91440" rIns="91440" rtlCol="0" tIns="45720" vert="horz"/>
          <a:p>
            <a:endParaRPr lang="en-US"/>
          </a:p>
        </p:txBody>
      </p:sp>
      <p:sp>
        <p:nvSpPr>
          <p:cNvPr id="1048826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/>
        </p:spPr>
        <p:txBody>
          <a:bodyPr bIns="45720" lIns="91440" rIns="91440" rtlCol="0" tIns="45720" vert="horz"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27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1048828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/>
        </p:spPr>
        <p:txBody>
          <a:bodyPr anchor="b" bIns="45720" lIns="91440" rIns="91440" rtlCol="0" tIns="45720" vert="horz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9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59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1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1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4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4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7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7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9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69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1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1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3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3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5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5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7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7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9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79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5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06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07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0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82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/>
            </a:r>
            <a:endParaRPr dirty="0" lang="en-US"/>
          </a:p>
        </p:txBody>
      </p:sp>
      <p:sp>
        <p:nvSpPr>
          <p:cNvPr id="104882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53" r:id="rId1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2B"/>
        </a:solidFill>
      </p:bgPr>
    </p:bg>
    <p:spTree>
      <p:nvGrpSpPr>
        <p:cNvPr id="1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>
            <a:off x="5577840" y="822960"/>
            <a:ext cx="3218688" cy="3218688"/>
          </a:xfrm>
          <a:prstGeom prst="ellipse"/>
          <a:solidFill>
            <a:srgbClr val="5B8C3A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1048577" name="Shape 1"/>
          <p:cNvSpPr/>
          <p:nvPr/>
        </p:nvSpPr>
        <p:spPr>
          <a:xfrm>
            <a:off x="5929884" y="1175004"/>
            <a:ext cx="2514600" cy="2514600"/>
          </a:xfrm>
          <a:prstGeom prst="ellipse"/>
          <a:solidFill>
            <a:srgbClr val="74A44C"/>
          </a:solidFill>
          <a:ln w="12700">
            <a:solidFill>
              <a:srgbClr val="74A44C"/>
            </a:solidFill>
            <a:prstDash val="solid"/>
          </a:ln>
        </p:spPr>
      </p:sp>
      <p:sp>
        <p:nvSpPr>
          <p:cNvPr id="1048578" name="Shape 2"/>
          <p:cNvSpPr/>
          <p:nvPr/>
        </p:nvSpPr>
        <p:spPr>
          <a:xfrm>
            <a:off x="6382512" y="1728216"/>
            <a:ext cx="502920" cy="502920"/>
          </a:xfrm>
          <a:prstGeom prst="ellipse"/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48579" name="Shape 3"/>
          <p:cNvSpPr/>
          <p:nvPr/>
        </p:nvSpPr>
        <p:spPr>
          <a:xfrm>
            <a:off x="7287768" y="1426464"/>
            <a:ext cx="352044" cy="352044"/>
          </a:xfrm>
          <a:prstGeom prst="ellipse"/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48580" name="Shape 4"/>
          <p:cNvSpPr/>
          <p:nvPr/>
        </p:nvSpPr>
        <p:spPr>
          <a:xfrm>
            <a:off x="7488936" y="2532888"/>
            <a:ext cx="553212" cy="553212"/>
          </a:xfrm>
          <a:prstGeom prst="ellipse"/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48581" name="Shape 5"/>
          <p:cNvSpPr/>
          <p:nvPr/>
        </p:nvSpPr>
        <p:spPr>
          <a:xfrm>
            <a:off x="6483096" y="2734056"/>
            <a:ext cx="301752" cy="301752"/>
          </a:xfrm>
          <a:prstGeom prst="ellipse"/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48582" name="Shape 6"/>
          <p:cNvSpPr/>
          <p:nvPr/>
        </p:nvSpPr>
        <p:spPr>
          <a:xfrm>
            <a:off x="6885432" y="2029968"/>
            <a:ext cx="221285" cy="221285"/>
          </a:xfrm>
          <a:prstGeom prst="ellipse"/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48583" name="Shape 7"/>
          <p:cNvSpPr/>
          <p:nvPr/>
        </p:nvSpPr>
        <p:spPr>
          <a:xfrm>
            <a:off x="7941564" y="1325880"/>
            <a:ext cx="301752" cy="301752"/>
          </a:xfrm>
          <a:prstGeom prst="ellipse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584" name="Text 8"/>
          <p:cNvSpPr txBox="1"/>
          <p:nvPr/>
        </p:nvSpPr>
        <p:spPr>
          <a:xfrm>
            <a:off x="548640" y="502920"/>
            <a:ext cx="457200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kern="0" lang="en-US" spc="30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CS3081 · ARTIFICIAL INTELLIGENCE</a:t>
            </a:r>
            <a:endParaRPr dirty="0" sz="1100" lang="en-US"/>
          </a:p>
        </p:txBody>
      </p:sp>
      <p:sp>
        <p:nvSpPr>
          <p:cNvPr id="1048585" name="Text 9"/>
          <p:cNvSpPr txBox="1"/>
          <p:nvPr/>
        </p:nvSpPr>
        <p:spPr>
          <a:xfrm>
            <a:off x="548640" y="914400"/>
            <a:ext cx="5029200" cy="15544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40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Pest Detector</a:t>
            </a:r>
            <a:endParaRPr dirty="0" sz="4000" lang="en-US"/>
          </a:p>
          <a:p>
            <a:pPr indent="0" marL="0">
              <a:buNone/>
            </a:pPr>
            <a:r>
              <a:rPr b="1" dirty="0" sz="40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Farms</a:t>
            </a:r>
            <a:endParaRPr dirty="0" sz="4000" lang="en-US"/>
          </a:p>
        </p:txBody>
      </p:sp>
      <p:sp>
        <p:nvSpPr>
          <p:cNvPr id="1048586" name="Text 10"/>
          <p:cNvSpPr txBox="1"/>
          <p:nvPr/>
        </p:nvSpPr>
        <p:spPr>
          <a:xfrm>
            <a:off x="548640" y="2514600"/>
            <a:ext cx="4572000" cy="4572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600" i="1" lang="en-US">
                <a:solidFill>
                  <a:srgbClr val="DD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pests early, with just a photo from a phone.</a:t>
            </a:r>
            <a:endParaRPr dirty="0" sz="1600" lang="en-US"/>
          </a:p>
        </p:txBody>
      </p:sp>
      <p:sp>
        <p:nvSpPr>
          <p:cNvPr id="1048587" name="Shape 11"/>
          <p:cNvSpPr/>
          <p:nvPr/>
        </p:nvSpPr>
        <p:spPr>
          <a:xfrm>
            <a:off x="548640" y="3200400"/>
            <a:ext cx="4754880" cy="13716"/>
          </a:xfrm>
          <a:prstGeom prst="rect"/>
          <a:solidFill>
            <a:srgbClr val="5B8C3A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1048588" name="Text 12"/>
          <p:cNvSpPr txBox="1"/>
          <p:nvPr/>
        </p:nvSpPr>
        <p:spPr>
          <a:xfrm>
            <a:off x="548640" y="3383280"/>
            <a:ext cx="182880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30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dirty="0" sz="1000" lang="en-US"/>
          </a:p>
        </p:txBody>
      </p:sp>
      <p:sp>
        <p:nvSpPr>
          <p:cNvPr id="1048589" name="Text 13"/>
          <p:cNvSpPr txBox="1"/>
          <p:nvPr/>
        </p:nvSpPr>
        <p:spPr>
          <a:xfrm>
            <a:off x="548640" y="3657600"/>
            <a:ext cx="2560320" cy="8686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spcAft>
                <a:spcPts val="300"/>
              </a:spcAft>
              <a:buNone/>
            </a:pPr>
            <a:r>
              <a:rPr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Idris</a:t>
            </a:r>
            <a:endParaRPr dirty="0" sz="1400" lang="en-US"/>
          </a:p>
          <a:p>
            <a:pPr indent="0" marL="0">
              <a:spcAft>
                <a:spcPts val="300"/>
              </a:spcAft>
              <a:buNone/>
            </a:pPr>
            <a:r>
              <a:rPr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Wajd Almadani</a:t>
            </a:r>
            <a:endParaRPr dirty="0" sz="1400" lang="en-US"/>
          </a:p>
          <a:p>
            <a:pPr indent="0" marL="0">
              <a:spcAft>
                <a:spcPts val="300"/>
              </a:spcAft>
              <a:buNone/>
            </a:pPr>
            <a:r>
              <a:rPr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Yousef Alattas</a:t>
            </a:r>
            <a:endParaRPr dirty="0" sz="1400" lang="en-US"/>
          </a:p>
        </p:txBody>
      </p:sp>
      <p:sp>
        <p:nvSpPr>
          <p:cNvPr id="1048590" name="Text 14"/>
          <p:cNvSpPr txBox="1"/>
          <p:nvPr/>
        </p:nvSpPr>
        <p:spPr>
          <a:xfrm>
            <a:off x="3291840" y="3383280"/>
            <a:ext cx="201168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30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</a:t>
            </a:r>
            <a:endParaRPr dirty="0" sz="1000" lang="en-US"/>
          </a:p>
        </p:txBody>
      </p:sp>
      <p:sp>
        <p:nvSpPr>
          <p:cNvPr id="1048591" name="Text 15"/>
          <p:cNvSpPr txBox="1"/>
          <p:nvPr/>
        </p:nvSpPr>
        <p:spPr>
          <a:xfrm>
            <a:off x="3291840" y="3657600"/>
            <a:ext cx="219456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 Naila</a:t>
            </a:r>
            <a:endParaRPr dirty="0" sz="1400"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1E4"/>
        </a:solidFill>
      </p:bgPr>
    </p:bg>
    <p:spTree>
      <p:nvGrpSpPr>
        <p:cNvPr id="2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ext 0"/>
          <p:cNvSpPr txBox="1"/>
          <p:nvPr/>
        </p:nvSpPr>
        <p:spPr>
          <a:xfrm>
            <a:off x="548640" y="347472"/>
            <a:ext cx="457200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kern="0" lang="en-US" spc="30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dirty="0" sz="1100" lang="en-US"/>
          </a:p>
        </p:txBody>
      </p:sp>
      <p:sp>
        <p:nvSpPr>
          <p:cNvPr id="1048596" name="Text 1"/>
          <p:cNvSpPr txBox="1"/>
          <p:nvPr/>
        </p:nvSpPr>
        <p:spPr>
          <a:xfrm>
            <a:off x="548640" y="594360"/>
            <a:ext cx="804672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Pests are found too late</a:t>
            </a:r>
            <a:endParaRPr dirty="0" sz="3000" lang="en-US"/>
          </a:p>
        </p:txBody>
      </p:sp>
      <p:sp>
        <p:nvSpPr>
          <p:cNvPr id="1048597" name="Shape 2"/>
          <p:cNvSpPr/>
          <p:nvPr/>
        </p:nvSpPr>
        <p:spPr>
          <a:xfrm>
            <a:off x="548640" y="1280160"/>
            <a:ext cx="640080" cy="45720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598" name="Text 3"/>
          <p:cNvSpPr txBox="1"/>
          <p:nvPr/>
        </p:nvSpPr>
        <p:spPr>
          <a:xfrm>
            <a:off x="8138160" y="4663440"/>
            <a:ext cx="457200" cy="22860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1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dirty="0" sz="1100" lang="en-US"/>
          </a:p>
        </p:txBody>
      </p:sp>
      <p:sp>
        <p:nvSpPr>
          <p:cNvPr id="1048599" name="Text 4"/>
          <p:cNvSpPr txBox="1"/>
          <p:nvPr/>
        </p:nvSpPr>
        <p:spPr>
          <a:xfrm>
            <a:off x="548640" y="1600200"/>
            <a:ext cx="82296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400" lang="en-US">
                <a:solidFill>
                  <a:srgbClr val="5B8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dirty="0" sz="3400" lang="en-US"/>
          </a:p>
        </p:txBody>
      </p:sp>
      <p:sp>
        <p:nvSpPr>
          <p:cNvPr id="1048600" name="Text 5"/>
          <p:cNvSpPr txBox="1"/>
          <p:nvPr/>
        </p:nvSpPr>
        <p:spPr>
          <a:xfrm>
            <a:off x="1371600" y="1618488"/>
            <a:ext cx="420624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7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 to see early</a:t>
            </a:r>
            <a:endParaRPr dirty="0" sz="1700" lang="en-US"/>
          </a:p>
        </p:txBody>
      </p:sp>
      <p:sp>
        <p:nvSpPr>
          <p:cNvPr id="1048601" name="Text 6"/>
          <p:cNvSpPr txBox="1"/>
          <p:nvPr/>
        </p:nvSpPr>
        <p:spPr>
          <a:xfrm>
            <a:off x="1371600" y="1965960"/>
            <a:ext cx="4206240" cy="5486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Pests can be tiny, and the first signs of damage are easy to miss.</a:t>
            </a:r>
            <a:endParaRPr dirty="0" sz="1300" lang="en-US"/>
          </a:p>
        </p:txBody>
      </p:sp>
      <p:sp>
        <p:nvSpPr>
          <p:cNvPr id="1048602" name="Shape 7"/>
          <p:cNvSpPr/>
          <p:nvPr/>
        </p:nvSpPr>
        <p:spPr>
          <a:xfrm>
            <a:off x="548640" y="2487168"/>
            <a:ext cx="5029200" cy="10973"/>
          </a:xfrm>
          <a:prstGeom prst="rect"/>
          <a:solidFill>
            <a:srgbClr val="D9D2BD"/>
          </a:solidFill>
          <a:ln w="12700">
            <a:solidFill>
              <a:srgbClr val="D9D2BD"/>
            </a:solidFill>
            <a:prstDash val="solid"/>
          </a:ln>
        </p:spPr>
      </p:sp>
      <p:sp>
        <p:nvSpPr>
          <p:cNvPr id="1048603" name="Text 8"/>
          <p:cNvSpPr txBox="1"/>
          <p:nvPr/>
        </p:nvSpPr>
        <p:spPr>
          <a:xfrm>
            <a:off x="548640" y="2606040"/>
            <a:ext cx="82296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400" lang="en-US">
                <a:solidFill>
                  <a:srgbClr val="5B8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dirty="0" sz="3400" lang="en-US"/>
          </a:p>
        </p:txBody>
      </p:sp>
      <p:sp>
        <p:nvSpPr>
          <p:cNvPr id="1048604" name="Text 9"/>
          <p:cNvSpPr txBox="1"/>
          <p:nvPr/>
        </p:nvSpPr>
        <p:spPr>
          <a:xfrm>
            <a:off x="1371600" y="2624328"/>
            <a:ext cx="420624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7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Spreads quickly</a:t>
            </a:r>
            <a:endParaRPr dirty="0" sz="1700" lang="en-US"/>
          </a:p>
        </p:txBody>
      </p:sp>
      <p:sp>
        <p:nvSpPr>
          <p:cNvPr id="1048605" name="Text 10"/>
          <p:cNvSpPr txBox="1"/>
          <p:nvPr/>
        </p:nvSpPr>
        <p:spPr>
          <a:xfrm>
            <a:off x="1371600" y="2971800"/>
            <a:ext cx="4206240" cy="5486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farmer notices, the pest may be on a large part of the farm.</a:t>
            </a:r>
            <a:endParaRPr dirty="0" sz="1300" lang="en-US"/>
          </a:p>
        </p:txBody>
      </p:sp>
      <p:sp>
        <p:nvSpPr>
          <p:cNvPr id="1048606" name="Shape 11"/>
          <p:cNvSpPr/>
          <p:nvPr/>
        </p:nvSpPr>
        <p:spPr>
          <a:xfrm>
            <a:off x="548640" y="3493008"/>
            <a:ext cx="5029200" cy="10973"/>
          </a:xfrm>
          <a:prstGeom prst="rect"/>
          <a:solidFill>
            <a:srgbClr val="D9D2BD"/>
          </a:solidFill>
          <a:ln w="12700">
            <a:solidFill>
              <a:srgbClr val="D9D2BD"/>
            </a:solidFill>
            <a:prstDash val="solid"/>
          </a:ln>
        </p:spPr>
      </p:sp>
      <p:sp>
        <p:nvSpPr>
          <p:cNvPr id="1048607" name="Text 12"/>
          <p:cNvSpPr txBox="1"/>
          <p:nvPr/>
        </p:nvSpPr>
        <p:spPr>
          <a:xfrm>
            <a:off x="548640" y="3611880"/>
            <a:ext cx="82296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400" lang="en-US">
                <a:solidFill>
                  <a:srgbClr val="5B8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dirty="0" sz="3400" lang="en-US"/>
          </a:p>
        </p:txBody>
      </p:sp>
      <p:sp>
        <p:nvSpPr>
          <p:cNvPr id="1048608" name="Text 13"/>
          <p:cNvSpPr txBox="1"/>
          <p:nvPr/>
        </p:nvSpPr>
        <p:spPr>
          <a:xfrm>
            <a:off x="1371600" y="3630168"/>
            <a:ext cx="420624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7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Costs real money</a:t>
            </a:r>
            <a:endParaRPr dirty="0" sz="1700" lang="en-US"/>
          </a:p>
        </p:txBody>
      </p:sp>
      <p:sp>
        <p:nvSpPr>
          <p:cNvPr id="1048609" name="Text 14"/>
          <p:cNvSpPr txBox="1"/>
          <p:nvPr/>
        </p:nvSpPr>
        <p:spPr>
          <a:xfrm>
            <a:off x="1371600" y="3977640"/>
            <a:ext cx="4206240" cy="5486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crop quality, lower production and financial losses.</a:t>
            </a:r>
            <a:endParaRPr dirty="0" sz="1300" lang="en-US"/>
          </a:p>
        </p:txBody>
      </p:sp>
      <p:sp>
        <p:nvSpPr>
          <p:cNvPr id="1048610" name="Shape 15"/>
          <p:cNvSpPr/>
          <p:nvPr/>
        </p:nvSpPr>
        <p:spPr>
          <a:xfrm>
            <a:off x="6035040" y="1645920"/>
            <a:ext cx="2560320" cy="2834640"/>
          </a:xfrm>
          <a:prstGeom prst="roundRect">
            <a:avLst>
              <a:gd name="adj" fmla="val 2857"/>
            </a:avLst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48611" name="Text 16"/>
          <p:cNvSpPr txBox="1"/>
          <p:nvPr/>
        </p:nvSpPr>
        <p:spPr>
          <a:xfrm>
            <a:off x="6309360" y="1920240"/>
            <a:ext cx="201168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30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QUESTION</a:t>
            </a:r>
            <a:endParaRPr dirty="0" sz="1000" lang="en-US"/>
          </a:p>
        </p:txBody>
      </p:sp>
      <p:sp>
        <p:nvSpPr>
          <p:cNvPr id="1048612" name="Text 17"/>
          <p:cNvSpPr txBox="1"/>
          <p:nvPr/>
        </p:nvSpPr>
        <p:spPr>
          <a:xfrm>
            <a:off x="6309360" y="2286000"/>
            <a:ext cx="2011680" cy="20116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2000" i="1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can farmers catch pests early, without guessing?</a:t>
            </a:r>
            <a:endParaRPr dirty="0" sz="20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4"/>
        </a:solidFill>
      </p:bgPr>
    </p:bg>
    <p:spTree>
      <p:nvGrpSpPr>
        <p:cNvPr id="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Text 0"/>
          <p:cNvSpPr txBox="1"/>
          <p:nvPr/>
        </p:nvSpPr>
        <p:spPr>
          <a:xfrm>
            <a:off x="548640" y="347472"/>
            <a:ext cx="457200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kern="0" lang="en-US" spc="30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IDEA</a:t>
            </a:r>
            <a:endParaRPr dirty="0" sz="1100" lang="en-US"/>
          </a:p>
        </p:txBody>
      </p:sp>
      <p:sp>
        <p:nvSpPr>
          <p:cNvPr id="1048617" name="Text 1"/>
          <p:cNvSpPr txBox="1"/>
          <p:nvPr/>
        </p:nvSpPr>
        <p:spPr>
          <a:xfrm>
            <a:off x="548640" y="594360"/>
            <a:ext cx="804672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a photo, get an answer</a:t>
            </a:r>
            <a:endParaRPr dirty="0" sz="3000" lang="en-US"/>
          </a:p>
        </p:txBody>
      </p:sp>
      <p:sp>
        <p:nvSpPr>
          <p:cNvPr id="1048618" name="Shape 2"/>
          <p:cNvSpPr/>
          <p:nvPr/>
        </p:nvSpPr>
        <p:spPr>
          <a:xfrm>
            <a:off x="548640" y="1280160"/>
            <a:ext cx="640080" cy="45720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619" name="Text 3"/>
          <p:cNvSpPr txBox="1"/>
          <p:nvPr/>
        </p:nvSpPr>
        <p:spPr>
          <a:xfrm>
            <a:off x="8138160" y="4663440"/>
            <a:ext cx="457200" cy="22860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1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dirty="0" sz="1100" lang="en-US"/>
          </a:p>
        </p:txBody>
      </p:sp>
      <p:sp>
        <p:nvSpPr>
          <p:cNvPr id="1048620" name="Shape 4"/>
          <p:cNvSpPr/>
          <p:nvPr/>
        </p:nvSpPr>
        <p:spPr>
          <a:xfrm>
            <a:off x="1463040" y="2057400"/>
            <a:ext cx="6217920" cy="27432"/>
          </a:xfrm>
          <a:prstGeom prst="rect"/>
          <a:solidFill>
            <a:srgbClr val="D9D2BD"/>
          </a:solidFill>
          <a:ln w="12700">
            <a:solidFill>
              <a:srgbClr val="D9D2BD"/>
            </a:solidFill>
            <a:prstDash val="solid"/>
          </a:ln>
        </p:spPr>
      </p:sp>
      <p:sp>
        <p:nvSpPr>
          <p:cNvPr id="1048621" name="Shape 5"/>
          <p:cNvSpPr/>
          <p:nvPr/>
        </p:nvSpPr>
        <p:spPr>
          <a:xfrm>
            <a:off x="822960" y="1691640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5B8C3A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1048622" name="Text 6"/>
          <p:cNvSpPr txBox="1"/>
          <p:nvPr/>
        </p:nvSpPr>
        <p:spPr>
          <a:xfrm>
            <a:off x="822960" y="1691640"/>
            <a:ext cx="1737360" cy="7772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7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</a:t>
            </a:r>
            <a:endParaRPr dirty="0" sz="1700" lang="en-US"/>
          </a:p>
        </p:txBody>
      </p:sp>
      <p:sp>
        <p:nvSpPr>
          <p:cNvPr id="1048623" name="Text 7"/>
          <p:cNvSpPr txBox="1"/>
          <p:nvPr/>
        </p:nvSpPr>
        <p:spPr>
          <a:xfrm>
            <a:off x="822960" y="2560320"/>
            <a:ext cx="1737360" cy="274320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12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Leaf, plant or insect</a:t>
            </a:r>
            <a:endParaRPr dirty="0" sz="1200" lang="en-US"/>
          </a:p>
        </p:txBody>
      </p:sp>
      <p:sp>
        <p:nvSpPr>
          <p:cNvPr id="1048624" name="Shape 8"/>
          <p:cNvSpPr/>
          <p:nvPr/>
        </p:nvSpPr>
        <p:spPr>
          <a:xfrm>
            <a:off x="3611880" y="1691640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48625" name="Text 9"/>
          <p:cNvSpPr txBox="1"/>
          <p:nvPr/>
        </p:nvSpPr>
        <p:spPr>
          <a:xfrm>
            <a:off x="3611880" y="1691640"/>
            <a:ext cx="1737360" cy="7772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7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model</a:t>
            </a:r>
            <a:endParaRPr dirty="0" sz="1700" lang="en-US"/>
          </a:p>
        </p:txBody>
      </p:sp>
      <p:sp>
        <p:nvSpPr>
          <p:cNvPr id="1048626" name="Text 10"/>
          <p:cNvSpPr txBox="1"/>
          <p:nvPr/>
        </p:nvSpPr>
        <p:spPr>
          <a:xfrm>
            <a:off x="3611880" y="2560320"/>
            <a:ext cx="1737360" cy="274320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12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recognition</a:t>
            </a:r>
            <a:endParaRPr dirty="0" sz="1200" lang="en-US"/>
          </a:p>
        </p:txBody>
      </p:sp>
      <p:sp>
        <p:nvSpPr>
          <p:cNvPr id="1048627" name="Shape 11"/>
          <p:cNvSpPr/>
          <p:nvPr/>
        </p:nvSpPr>
        <p:spPr>
          <a:xfrm>
            <a:off x="6400800" y="1691640"/>
            <a:ext cx="1737360" cy="777240"/>
          </a:xfrm>
          <a:prstGeom prst="roundRect">
            <a:avLst>
              <a:gd name="adj" fmla="val 11765"/>
            </a:avLst>
          </a:prstGeom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628" name="Text 12"/>
          <p:cNvSpPr txBox="1"/>
          <p:nvPr/>
        </p:nvSpPr>
        <p:spPr>
          <a:xfrm>
            <a:off x="6400800" y="1691640"/>
            <a:ext cx="1737360" cy="7772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7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</a:t>
            </a:r>
            <a:endParaRPr dirty="0" sz="1700" lang="en-US"/>
          </a:p>
        </p:txBody>
      </p:sp>
      <p:sp>
        <p:nvSpPr>
          <p:cNvPr id="1048629" name="Text 13"/>
          <p:cNvSpPr txBox="1"/>
          <p:nvPr/>
        </p:nvSpPr>
        <p:spPr>
          <a:xfrm>
            <a:off x="6400800" y="2560320"/>
            <a:ext cx="1737360" cy="274320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12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 type and advice</a:t>
            </a:r>
            <a:endParaRPr dirty="0" sz="1200" lang="en-US"/>
          </a:p>
        </p:txBody>
      </p:sp>
      <p:sp>
        <p:nvSpPr>
          <p:cNvPr id="1048630" name="Shape 14"/>
          <p:cNvSpPr/>
          <p:nvPr/>
        </p:nvSpPr>
        <p:spPr>
          <a:xfrm>
            <a:off x="548640" y="3200400"/>
            <a:ext cx="2468880" cy="36576"/>
          </a:xfrm>
          <a:prstGeom prst="rect"/>
          <a:solidFill>
            <a:srgbClr val="5B8C3A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1048631" name="Text 15"/>
          <p:cNvSpPr txBox="1"/>
          <p:nvPr/>
        </p:nvSpPr>
        <p:spPr>
          <a:xfrm>
            <a:off x="548640" y="3383280"/>
            <a:ext cx="246888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 a phone</a:t>
            </a:r>
            <a:endParaRPr dirty="0" sz="1500" lang="en-US"/>
          </a:p>
        </p:txBody>
      </p:sp>
      <p:sp>
        <p:nvSpPr>
          <p:cNvPr id="1048632" name="Text 16"/>
          <p:cNvSpPr txBox="1"/>
          <p:nvPr/>
        </p:nvSpPr>
        <p:spPr>
          <a:xfrm>
            <a:off x="548640" y="3703320"/>
            <a:ext cx="24688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expensive equipment. A photo is the main input.</a:t>
            </a:r>
            <a:endParaRPr dirty="0" sz="1250" lang="en-US"/>
          </a:p>
        </p:txBody>
      </p:sp>
      <p:sp>
        <p:nvSpPr>
          <p:cNvPr id="1048633" name="Shape 17"/>
          <p:cNvSpPr/>
          <p:nvPr/>
        </p:nvSpPr>
        <p:spPr>
          <a:xfrm>
            <a:off x="3337560" y="3200400"/>
            <a:ext cx="2468880" cy="36576"/>
          </a:xfrm>
          <a:prstGeom prst="rect"/>
          <a:solidFill>
            <a:srgbClr val="5B8C3A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1048634" name="Text 18"/>
          <p:cNvSpPr txBox="1"/>
          <p:nvPr/>
        </p:nvSpPr>
        <p:spPr>
          <a:xfrm>
            <a:off x="3337560" y="3383280"/>
            <a:ext cx="246888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Learns from examples</a:t>
            </a:r>
            <a:endParaRPr dirty="0" sz="1500" lang="en-US"/>
          </a:p>
        </p:txBody>
      </p:sp>
      <p:sp>
        <p:nvSpPr>
          <p:cNvPr id="1048635" name="Text 19"/>
          <p:cNvSpPr txBox="1"/>
          <p:nvPr/>
        </p:nvSpPr>
        <p:spPr>
          <a:xfrm>
            <a:off x="3337560" y="3703320"/>
            <a:ext cx="24688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compares your photo with images it has learned from.</a:t>
            </a:r>
            <a:endParaRPr dirty="0" sz="1250" lang="en-US"/>
          </a:p>
        </p:txBody>
      </p:sp>
      <p:sp>
        <p:nvSpPr>
          <p:cNvPr id="1048636" name="Shape 20"/>
          <p:cNvSpPr/>
          <p:nvPr/>
        </p:nvSpPr>
        <p:spPr>
          <a:xfrm>
            <a:off x="6126480" y="3200400"/>
            <a:ext cx="2468880" cy="36576"/>
          </a:xfrm>
          <a:prstGeom prst="rect"/>
          <a:solidFill>
            <a:srgbClr val="5B8C3A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1048637" name="Text 21"/>
          <p:cNvSpPr txBox="1"/>
          <p:nvPr/>
        </p:nvSpPr>
        <p:spPr>
          <a:xfrm>
            <a:off x="6126480" y="3383280"/>
            <a:ext cx="246888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Supports experts</a:t>
            </a:r>
            <a:endParaRPr dirty="0" sz="1500" lang="en-US"/>
          </a:p>
        </p:txBody>
      </p:sp>
      <p:sp>
        <p:nvSpPr>
          <p:cNvPr id="1048638" name="Text 22"/>
          <p:cNvSpPr txBox="1"/>
          <p:nvPr/>
        </p:nvSpPr>
        <p:spPr>
          <a:xfrm>
            <a:off x="6126480" y="3703320"/>
            <a:ext cx="24688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early detection. Agricultural experts are still needed.</a:t>
            </a:r>
            <a:endParaRPr dirty="0" sz="125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1E4"/>
        </a:solidFill>
      </p:bgPr>
    </p:bg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Text 0"/>
          <p:cNvSpPr txBox="1"/>
          <p:nvPr/>
        </p:nvSpPr>
        <p:spPr>
          <a:xfrm>
            <a:off x="548640" y="347472"/>
            <a:ext cx="457200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kern="0" lang="en-US" spc="30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HOW IT WORKS</a:t>
            </a:r>
            <a:endParaRPr dirty="0" sz="1100" lang="en-US"/>
          </a:p>
        </p:txBody>
      </p:sp>
      <p:sp>
        <p:nvSpPr>
          <p:cNvPr id="1048643" name="Text 1"/>
          <p:cNvSpPr txBox="1"/>
          <p:nvPr/>
        </p:nvSpPr>
        <p:spPr>
          <a:xfrm>
            <a:off x="548640" y="594360"/>
            <a:ext cx="804672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simple steps</a:t>
            </a:r>
            <a:endParaRPr dirty="0" sz="3000" lang="en-US"/>
          </a:p>
        </p:txBody>
      </p:sp>
      <p:sp>
        <p:nvSpPr>
          <p:cNvPr id="1048644" name="Shape 2"/>
          <p:cNvSpPr/>
          <p:nvPr/>
        </p:nvSpPr>
        <p:spPr>
          <a:xfrm>
            <a:off x="548640" y="1280160"/>
            <a:ext cx="640080" cy="45720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645" name="Text 3"/>
          <p:cNvSpPr txBox="1"/>
          <p:nvPr/>
        </p:nvSpPr>
        <p:spPr>
          <a:xfrm>
            <a:off x="8138160" y="4663440"/>
            <a:ext cx="457200" cy="22860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1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dirty="0" sz="1100" lang="en-US"/>
          </a:p>
        </p:txBody>
      </p:sp>
      <p:sp>
        <p:nvSpPr>
          <p:cNvPr id="1048646" name="Shape 4"/>
          <p:cNvSpPr/>
          <p:nvPr/>
        </p:nvSpPr>
        <p:spPr>
          <a:xfrm>
            <a:off x="914400" y="2240280"/>
            <a:ext cx="7223760" cy="27432"/>
          </a:xfrm>
          <a:prstGeom prst="rect"/>
          <a:solidFill>
            <a:srgbClr val="5B8C3A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1048647" name="Shape 5"/>
          <p:cNvSpPr/>
          <p:nvPr/>
        </p:nvSpPr>
        <p:spPr>
          <a:xfrm>
            <a:off x="914400" y="1920240"/>
            <a:ext cx="640080" cy="640080"/>
          </a:xfrm>
          <a:prstGeom prst="ellipse"/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48648" name="Text 6"/>
          <p:cNvSpPr txBox="1"/>
          <p:nvPr/>
        </p:nvSpPr>
        <p:spPr>
          <a:xfrm>
            <a:off x="914400" y="1920240"/>
            <a:ext cx="640080" cy="6400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dirty="0" sz="2200" lang="en-US"/>
          </a:p>
        </p:txBody>
      </p:sp>
      <p:sp>
        <p:nvSpPr>
          <p:cNvPr id="1048649" name="Text 7"/>
          <p:cNvSpPr txBox="1"/>
          <p:nvPr/>
        </p:nvSpPr>
        <p:spPr>
          <a:xfrm>
            <a:off x="548640" y="2743200"/>
            <a:ext cx="1371600" cy="274320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b="1" dirty="0" sz="15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Capture</a:t>
            </a:r>
            <a:endParaRPr dirty="0" sz="1500" lang="en-US"/>
          </a:p>
        </p:txBody>
      </p:sp>
      <p:sp>
        <p:nvSpPr>
          <p:cNvPr id="1048650" name="Text 8"/>
          <p:cNvSpPr txBox="1"/>
          <p:nvPr/>
        </p:nvSpPr>
        <p:spPr>
          <a:xfrm>
            <a:off x="548640" y="3063240"/>
            <a:ext cx="1371600" cy="548640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12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photo</a:t>
            </a:r>
            <a:endParaRPr dirty="0" sz="1200" lang="en-US"/>
          </a:p>
        </p:txBody>
      </p:sp>
      <p:sp>
        <p:nvSpPr>
          <p:cNvPr id="1048651" name="Shape 9"/>
          <p:cNvSpPr/>
          <p:nvPr/>
        </p:nvSpPr>
        <p:spPr>
          <a:xfrm>
            <a:off x="2560320" y="1920240"/>
            <a:ext cx="640080" cy="640080"/>
          </a:xfrm>
          <a:prstGeom prst="ellipse"/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48652" name="Text 10"/>
          <p:cNvSpPr txBox="1"/>
          <p:nvPr/>
        </p:nvSpPr>
        <p:spPr>
          <a:xfrm>
            <a:off x="2560320" y="1920240"/>
            <a:ext cx="640080" cy="6400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dirty="0" sz="2200" lang="en-US"/>
          </a:p>
        </p:txBody>
      </p:sp>
      <p:sp>
        <p:nvSpPr>
          <p:cNvPr id="1048653" name="Text 11"/>
          <p:cNvSpPr txBox="1"/>
          <p:nvPr/>
        </p:nvSpPr>
        <p:spPr>
          <a:xfrm>
            <a:off x="2194560" y="2743200"/>
            <a:ext cx="1371600" cy="274320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b="1" dirty="0" sz="15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Upload</a:t>
            </a:r>
            <a:endParaRPr dirty="0" sz="1500" lang="en-US"/>
          </a:p>
        </p:txBody>
      </p:sp>
      <p:sp>
        <p:nvSpPr>
          <p:cNvPr id="1048654" name="Text 12"/>
          <p:cNvSpPr txBox="1"/>
          <p:nvPr/>
        </p:nvSpPr>
        <p:spPr>
          <a:xfrm>
            <a:off x="2194560" y="3063240"/>
            <a:ext cx="1371600" cy="548640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12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it in</a:t>
            </a:r>
            <a:endParaRPr dirty="0" sz="1200" lang="en-US"/>
          </a:p>
        </p:txBody>
      </p:sp>
      <p:sp>
        <p:nvSpPr>
          <p:cNvPr id="1048655" name="Shape 13"/>
          <p:cNvSpPr/>
          <p:nvPr/>
        </p:nvSpPr>
        <p:spPr>
          <a:xfrm>
            <a:off x="4206240" y="1920240"/>
            <a:ext cx="640080" cy="640080"/>
          </a:xfrm>
          <a:prstGeom prst="ellipse"/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48656" name="Text 14"/>
          <p:cNvSpPr txBox="1"/>
          <p:nvPr/>
        </p:nvSpPr>
        <p:spPr>
          <a:xfrm>
            <a:off x="4206240" y="1920240"/>
            <a:ext cx="640080" cy="6400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dirty="0" sz="2200" lang="en-US"/>
          </a:p>
        </p:txBody>
      </p:sp>
      <p:sp>
        <p:nvSpPr>
          <p:cNvPr id="1048657" name="Text 15"/>
          <p:cNvSpPr txBox="1"/>
          <p:nvPr/>
        </p:nvSpPr>
        <p:spPr>
          <a:xfrm>
            <a:off x="3840480" y="2743200"/>
            <a:ext cx="1371600" cy="274320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b="1" dirty="0" sz="15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</a:t>
            </a:r>
            <a:endParaRPr dirty="0" sz="1500" lang="en-US"/>
          </a:p>
        </p:txBody>
      </p:sp>
      <p:sp>
        <p:nvSpPr>
          <p:cNvPr id="1048658" name="Text 16"/>
          <p:cNvSpPr txBox="1"/>
          <p:nvPr/>
        </p:nvSpPr>
        <p:spPr>
          <a:xfrm>
            <a:off x="3840480" y="3063240"/>
            <a:ext cx="1371600" cy="548640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12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checks the image</a:t>
            </a:r>
            <a:endParaRPr dirty="0" sz="1200" lang="en-US"/>
          </a:p>
        </p:txBody>
      </p:sp>
      <p:sp>
        <p:nvSpPr>
          <p:cNvPr id="1048659" name="Shape 17"/>
          <p:cNvSpPr/>
          <p:nvPr/>
        </p:nvSpPr>
        <p:spPr>
          <a:xfrm>
            <a:off x="5852160" y="1920240"/>
            <a:ext cx="640080" cy="640080"/>
          </a:xfrm>
          <a:prstGeom prst="ellipse"/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48660" name="Text 18"/>
          <p:cNvSpPr txBox="1"/>
          <p:nvPr/>
        </p:nvSpPr>
        <p:spPr>
          <a:xfrm>
            <a:off x="5852160" y="1920240"/>
            <a:ext cx="640080" cy="6400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dirty="0" sz="2200" lang="en-US"/>
          </a:p>
        </p:txBody>
      </p:sp>
      <p:sp>
        <p:nvSpPr>
          <p:cNvPr id="1048661" name="Text 19"/>
          <p:cNvSpPr txBox="1"/>
          <p:nvPr/>
        </p:nvSpPr>
        <p:spPr>
          <a:xfrm>
            <a:off x="5486400" y="2743200"/>
            <a:ext cx="1371600" cy="274320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b="1" dirty="0" sz="15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Identify</a:t>
            </a:r>
            <a:endParaRPr dirty="0" sz="1500" lang="en-US"/>
          </a:p>
        </p:txBody>
      </p:sp>
      <p:sp>
        <p:nvSpPr>
          <p:cNvPr id="1048662" name="Text 20"/>
          <p:cNvSpPr txBox="1"/>
          <p:nvPr/>
        </p:nvSpPr>
        <p:spPr>
          <a:xfrm>
            <a:off x="5486400" y="3063240"/>
            <a:ext cx="1371600" cy="548640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12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Pest? Which type?</a:t>
            </a:r>
            <a:endParaRPr dirty="0" sz="1200" lang="en-US"/>
          </a:p>
        </p:txBody>
      </p:sp>
      <p:sp>
        <p:nvSpPr>
          <p:cNvPr id="1048663" name="Shape 21"/>
          <p:cNvSpPr/>
          <p:nvPr/>
        </p:nvSpPr>
        <p:spPr>
          <a:xfrm>
            <a:off x="7498080" y="1920240"/>
            <a:ext cx="640080" cy="640080"/>
          </a:xfrm>
          <a:prstGeom prst="ellipse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664" name="Text 22"/>
          <p:cNvSpPr txBox="1"/>
          <p:nvPr/>
        </p:nvSpPr>
        <p:spPr>
          <a:xfrm>
            <a:off x="7498080" y="1920240"/>
            <a:ext cx="640080" cy="6400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22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dirty="0" sz="2200" lang="en-US"/>
          </a:p>
        </p:txBody>
      </p:sp>
      <p:sp>
        <p:nvSpPr>
          <p:cNvPr id="1048665" name="Text 23"/>
          <p:cNvSpPr txBox="1"/>
          <p:nvPr/>
        </p:nvSpPr>
        <p:spPr>
          <a:xfrm>
            <a:off x="7132320" y="2743200"/>
            <a:ext cx="1371600" cy="274320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b="1" dirty="0" sz="15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Advise</a:t>
            </a:r>
            <a:endParaRPr dirty="0" sz="1500" lang="en-US"/>
          </a:p>
        </p:txBody>
      </p:sp>
      <p:sp>
        <p:nvSpPr>
          <p:cNvPr id="1048666" name="Text 24"/>
          <p:cNvSpPr txBox="1"/>
          <p:nvPr/>
        </p:nvSpPr>
        <p:spPr>
          <a:xfrm>
            <a:off x="7132320" y="3063240"/>
            <a:ext cx="1371600" cy="548640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12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and basic actions</a:t>
            </a:r>
            <a:endParaRPr dirty="0" sz="1200" lang="en-US"/>
          </a:p>
        </p:txBody>
      </p:sp>
      <p:sp>
        <p:nvSpPr>
          <p:cNvPr id="1048667" name="Shape 25"/>
          <p:cNvSpPr/>
          <p:nvPr/>
        </p:nvSpPr>
        <p:spPr>
          <a:xfrm>
            <a:off x="548640" y="3931920"/>
            <a:ext cx="8046720" cy="548640"/>
          </a:xfrm>
          <a:prstGeom prst="roundRect">
            <a:avLst>
              <a:gd name="adj" fmla="val 13333"/>
            </a:avLst>
          </a:prstGeom>
          <a:solidFill>
            <a:srgbClr val="DDE8C8"/>
          </a:solidFill>
          <a:ln w="12700">
            <a:solidFill>
              <a:srgbClr val="DDE8C8"/>
            </a:solidFill>
            <a:prstDash val="solid"/>
          </a:ln>
        </p:spPr>
      </p:sp>
      <p:sp>
        <p:nvSpPr>
          <p:cNvPr id="1048668" name="Text 26"/>
          <p:cNvSpPr txBox="1"/>
          <p:nvPr/>
        </p:nvSpPr>
        <p:spPr>
          <a:xfrm>
            <a:off x="548640" y="3931920"/>
            <a:ext cx="8046720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dirty="0" sz="1400" i="1" lang="en-US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unusual on a leaf? Scan it again, anytime.</a:t>
            </a:r>
            <a:endParaRPr dirty="0" sz="14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1E4"/>
        </a:solidFill>
      </p:bgPr>
    </p:bg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Text 0"/>
          <p:cNvSpPr txBox="1"/>
          <p:nvPr/>
        </p:nvSpPr>
        <p:spPr>
          <a:xfrm>
            <a:off x="548640" y="347472"/>
            <a:ext cx="457200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kern="0" lang="en-US" spc="30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EXAMPLE</a:t>
            </a:r>
            <a:endParaRPr dirty="0" sz="1100" lang="en-US"/>
          </a:p>
        </p:txBody>
      </p:sp>
      <p:sp>
        <p:nvSpPr>
          <p:cNvPr id="1048673" name="Text 1"/>
          <p:cNvSpPr txBox="1"/>
          <p:nvPr/>
        </p:nvSpPr>
        <p:spPr>
          <a:xfrm>
            <a:off x="548640" y="594360"/>
            <a:ext cx="804672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farmer sees</a:t>
            </a:r>
            <a:endParaRPr dirty="0" sz="3000" lang="en-US"/>
          </a:p>
        </p:txBody>
      </p:sp>
      <p:sp>
        <p:nvSpPr>
          <p:cNvPr id="1048674" name="Shape 2"/>
          <p:cNvSpPr/>
          <p:nvPr/>
        </p:nvSpPr>
        <p:spPr>
          <a:xfrm>
            <a:off x="548640" y="1280160"/>
            <a:ext cx="640080" cy="45720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675" name="Text 3"/>
          <p:cNvSpPr txBox="1"/>
          <p:nvPr/>
        </p:nvSpPr>
        <p:spPr>
          <a:xfrm>
            <a:off x="8138160" y="4663440"/>
            <a:ext cx="457200" cy="22860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1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dirty="0" sz="1100" lang="en-US"/>
          </a:p>
        </p:txBody>
      </p:sp>
      <p:sp>
        <p:nvSpPr>
          <p:cNvPr id="1048676" name="Shape 4"/>
          <p:cNvSpPr/>
          <p:nvPr/>
        </p:nvSpPr>
        <p:spPr>
          <a:xfrm>
            <a:off x="822960" y="1508760"/>
            <a:ext cx="2468880" cy="3063240"/>
          </a:xfrm>
          <a:prstGeom prst="roundRect">
            <a:avLst>
              <a:gd name="adj" fmla="val 9259"/>
            </a:avLst>
          </a:prstGeom>
          <a:solidFill>
            <a:srgbClr val="22302A"/>
          </a:solidFill>
          <a:ln w="12700">
            <a:solidFill>
              <a:srgbClr val="22302A"/>
            </a:solidFill>
            <a:prstDash val="solid"/>
          </a:ln>
        </p:spPr>
      </p:sp>
      <p:sp>
        <p:nvSpPr>
          <p:cNvPr id="1048677" name="Shape 5"/>
          <p:cNvSpPr/>
          <p:nvPr/>
        </p:nvSpPr>
        <p:spPr>
          <a:xfrm>
            <a:off x="960120" y="1783080"/>
            <a:ext cx="2194560" cy="2651760"/>
          </a:xfrm>
          <a:prstGeom prst="roundRect">
            <a:avLst>
              <a:gd name="adj" fmla="val 4167"/>
            </a:avLst>
          </a:prstGeom>
          <a:solidFill>
            <a:srgbClr val="F6F1E4"/>
          </a:solidFill>
          <a:ln w="12700">
            <a:solidFill>
              <a:srgbClr val="F6F1E4"/>
            </a:solidFill>
            <a:prstDash val="solid"/>
          </a:ln>
        </p:spPr>
      </p:sp>
      <p:sp>
        <p:nvSpPr>
          <p:cNvPr id="1048678" name="Text 6"/>
          <p:cNvSpPr txBox="1"/>
          <p:nvPr/>
        </p:nvSpPr>
        <p:spPr>
          <a:xfrm>
            <a:off x="1097280" y="1920240"/>
            <a:ext cx="192024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1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with small holes</a:t>
            </a:r>
            <a:endParaRPr dirty="0" sz="1100" lang="en-US"/>
          </a:p>
        </p:txBody>
      </p:sp>
      <p:sp>
        <p:nvSpPr>
          <p:cNvPr id="1048679" name="Shape 7"/>
          <p:cNvSpPr/>
          <p:nvPr/>
        </p:nvSpPr>
        <p:spPr>
          <a:xfrm>
            <a:off x="1097280" y="2240280"/>
            <a:ext cx="192024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8680" name="Text 8"/>
          <p:cNvSpPr txBox="1"/>
          <p:nvPr/>
        </p:nvSpPr>
        <p:spPr>
          <a:xfrm>
            <a:off x="1097280" y="2240280"/>
            <a:ext cx="1920240" cy="86868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500" lang="en-US">
                <a:solidFill>
                  <a:srgbClr val="B54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Possible aphid</a:t>
            </a:r>
            <a:endParaRPr dirty="0" sz="1500" lang="en-US"/>
          </a:p>
          <a:p>
            <a:pPr algn="ctr" indent="0" marL="0">
              <a:buNone/>
            </a:pPr>
            <a:r>
              <a:rPr b="1" dirty="0" sz="1500" lang="en-US">
                <a:solidFill>
                  <a:srgbClr val="B546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detected</a:t>
            </a:r>
            <a:endParaRPr dirty="0" sz="1500" lang="en-US"/>
          </a:p>
        </p:txBody>
      </p:sp>
      <p:sp>
        <p:nvSpPr>
          <p:cNvPr id="1048681" name="Text 9"/>
          <p:cNvSpPr txBox="1"/>
          <p:nvPr/>
        </p:nvSpPr>
        <p:spPr>
          <a:xfrm>
            <a:off x="1097280" y="3246120"/>
            <a:ext cx="1920240" cy="9144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spcAft>
                <a:spcPts val="300"/>
              </a:spcAft>
              <a:buNone/>
            </a:pPr>
            <a:r>
              <a:rPr dirty="0" sz="1150" lang="en-US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Medium</a:t>
            </a:r>
            <a:endParaRPr dirty="0" sz="1150" lang="en-US"/>
          </a:p>
          <a:p>
            <a:pPr indent="0" marL="0">
              <a:spcAft>
                <a:spcPts val="300"/>
              </a:spcAft>
              <a:buNone/>
            </a:pPr>
            <a:r>
              <a:rPr dirty="0" sz="1150" lang="en-US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Affects: common crops</a:t>
            </a:r>
            <a:endParaRPr dirty="0" sz="1150" lang="en-US"/>
          </a:p>
          <a:p>
            <a:pPr indent="0" marL="0">
              <a:spcAft>
                <a:spcPts val="300"/>
              </a:spcAft>
              <a:buNone/>
            </a:pPr>
            <a:r>
              <a:rPr dirty="0" sz="1150" lang="en-US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Action: basic steps</a:t>
            </a:r>
            <a:endParaRPr dirty="0" sz="1150" lang="en-US"/>
          </a:p>
        </p:txBody>
      </p:sp>
      <p:sp>
        <p:nvSpPr>
          <p:cNvPr id="1048682" name="Text 10"/>
          <p:cNvSpPr txBox="1"/>
          <p:nvPr/>
        </p:nvSpPr>
        <p:spPr>
          <a:xfrm>
            <a:off x="822960" y="4617720"/>
            <a:ext cx="2468880" cy="228600"/>
          </a:xfrm>
          <a:prstGeom prst="rect"/>
          <a:noFill/>
        </p:spPr>
        <p:txBody>
          <a:bodyPr anchor="t" bIns="0" lIns="0" rIns="0" rtlCol="0" tIns="0" wrap="square"/>
          <a:p>
            <a:pPr algn="ctr" indent="0" marL="0">
              <a:buNone/>
            </a:pPr>
            <a:r>
              <a:rPr dirty="0" sz="900" i="1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values, early sketch</a:t>
            </a:r>
            <a:endParaRPr dirty="0" sz="900" lang="en-US"/>
          </a:p>
        </p:txBody>
      </p:sp>
      <p:sp>
        <p:nvSpPr>
          <p:cNvPr id="1048683" name="Text 11"/>
          <p:cNvSpPr txBox="1"/>
          <p:nvPr/>
        </p:nvSpPr>
        <p:spPr>
          <a:xfrm>
            <a:off x="4023360" y="1600200"/>
            <a:ext cx="4389120" cy="3657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possible results</a:t>
            </a:r>
            <a:endParaRPr dirty="0" sz="2000" lang="en-US"/>
          </a:p>
        </p:txBody>
      </p:sp>
      <p:sp>
        <p:nvSpPr>
          <p:cNvPr id="1048684" name="Shape 12"/>
          <p:cNvSpPr/>
          <p:nvPr/>
        </p:nvSpPr>
        <p:spPr>
          <a:xfrm>
            <a:off x="4023360" y="2194560"/>
            <a:ext cx="73152" cy="548640"/>
          </a:xfrm>
          <a:prstGeom prst="rect"/>
          <a:solidFill>
            <a:srgbClr val="B5462F"/>
          </a:solidFill>
          <a:ln w="12700">
            <a:solidFill>
              <a:srgbClr val="B5462F"/>
            </a:solidFill>
            <a:prstDash val="solid"/>
          </a:ln>
        </p:spPr>
      </p:sp>
      <p:sp>
        <p:nvSpPr>
          <p:cNvPr id="1048685" name="Text 13"/>
          <p:cNvSpPr txBox="1"/>
          <p:nvPr/>
        </p:nvSpPr>
        <p:spPr>
          <a:xfrm>
            <a:off x="4297680" y="2194560"/>
            <a:ext cx="411480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223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Possible aphid detected</a:t>
            </a:r>
            <a:endParaRPr dirty="0" sz="1500" lang="en-US"/>
          </a:p>
        </p:txBody>
      </p:sp>
      <p:sp>
        <p:nvSpPr>
          <p:cNvPr id="1048686" name="Text 14"/>
          <p:cNvSpPr txBox="1"/>
          <p:nvPr/>
        </p:nvSpPr>
        <p:spPr>
          <a:xfrm>
            <a:off x="4297680" y="2487168"/>
            <a:ext cx="411480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pest is found and named.</a:t>
            </a:r>
            <a:endParaRPr dirty="0" sz="1250" lang="en-US"/>
          </a:p>
        </p:txBody>
      </p:sp>
      <p:sp>
        <p:nvSpPr>
          <p:cNvPr id="1048687" name="Shape 15"/>
          <p:cNvSpPr/>
          <p:nvPr/>
        </p:nvSpPr>
        <p:spPr>
          <a:xfrm>
            <a:off x="4023360" y="2971800"/>
            <a:ext cx="73152" cy="548640"/>
          </a:xfrm>
          <a:prstGeom prst="rect"/>
          <a:solidFill>
            <a:srgbClr val="5B8C3A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1048688" name="Text 16"/>
          <p:cNvSpPr txBox="1"/>
          <p:nvPr/>
        </p:nvSpPr>
        <p:spPr>
          <a:xfrm>
            <a:off x="4297680" y="2971800"/>
            <a:ext cx="411480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223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pest detected</a:t>
            </a:r>
            <a:endParaRPr dirty="0" sz="1500" lang="en-US"/>
          </a:p>
        </p:txBody>
      </p:sp>
      <p:sp>
        <p:nvSpPr>
          <p:cNvPr id="1048689" name="Text 17"/>
          <p:cNvSpPr txBox="1"/>
          <p:nvPr/>
        </p:nvSpPr>
        <p:spPr>
          <a:xfrm>
            <a:off x="4297680" y="3264408"/>
            <a:ext cx="411480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plant looks healthy.</a:t>
            </a:r>
            <a:endParaRPr dirty="0" sz="1250" lang="en-US"/>
          </a:p>
        </p:txBody>
      </p:sp>
      <p:sp>
        <p:nvSpPr>
          <p:cNvPr id="1048690" name="Shape 18"/>
          <p:cNvSpPr/>
          <p:nvPr/>
        </p:nvSpPr>
        <p:spPr>
          <a:xfrm>
            <a:off x="4023360" y="3749040"/>
            <a:ext cx="73152" cy="548640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691" name="Text 19"/>
          <p:cNvSpPr txBox="1"/>
          <p:nvPr/>
        </p:nvSpPr>
        <p:spPr>
          <a:xfrm>
            <a:off x="4297680" y="3749040"/>
            <a:ext cx="411480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2230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sure</a:t>
            </a:r>
            <a:endParaRPr dirty="0" sz="1500" lang="en-US"/>
          </a:p>
        </p:txBody>
      </p:sp>
      <p:sp>
        <p:nvSpPr>
          <p:cNvPr id="1048692" name="Text 20"/>
          <p:cNvSpPr txBox="1"/>
          <p:nvPr/>
        </p:nvSpPr>
        <p:spPr>
          <a:xfrm>
            <a:off x="4297680" y="4041648"/>
            <a:ext cx="411480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clearer photo.</a:t>
            </a:r>
            <a:endParaRPr dirty="0" sz="125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4"/>
        </a:solidFill>
      </p:bgPr>
    </p:bg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Text 0"/>
          <p:cNvSpPr txBox="1"/>
          <p:nvPr/>
        </p:nvSpPr>
        <p:spPr>
          <a:xfrm>
            <a:off x="548640" y="347472"/>
            <a:ext cx="457200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kern="0" lang="en-US" spc="30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THE AI SIDE</a:t>
            </a:r>
            <a:endParaRPr dirty="0" sz="1100" lang="en-US"/>
          </a:p>
        </p:txBody>
      </p:sp>
      <p:sp>
        <p:nvSpPr>
          <p:cNvPr id="1048697" name="Text 1"/>
          <p:cNvSpPr txBox="1"/>
          <p:nvPr/>
        </p:nvSpPr>
        <p:spPr>
          <a:xfrm>
            <a:off x="548640" y="594360"/>
            <a:ext cx="804672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Computer vision, in four parts</a:t>
            </a:r>
            <a:endParaRPr dirty="0" sz="3000" lang="en-US"/>
          </a:p>
        </p:txBody>
      </p:sp>
      <p:sp>
        <p:nvSpPr>
          <p:cNvPr id="1048698" name="Shape 2"/>
          <p:cNvSpPr/>
          <p:nvPr/>
        </p:nvSpPr>
        <p:spPr>
          <a:xfrm>
            <a:off x="548640" y="1280160"/>
            <a:ext cx="640080" cy="45720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699" name="Text 3"/>
          <p:cNvSpPr txBox="1"/>
          <p:nvPr/>
        </p:nvSpPr>
        <p:spPr>
          <a:xfrm>
            <a:off x="8138160" y="4663440"/>
            <a:ext cx="457200" cy="22860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1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dirty="0" sz="1100" lang="en-US"/>
          </a:p>
        </p:txBody>
      </p:sp>
      <p:sp>
        <p:nvSpPr>
          <p:cNvPr id="1048700" name="Text 4"/>
          <p:cNvSpPr txBox="1"/>
          <p:nvPr/>
        </p:nvSpPr>
        <p:spPr>
          <a:xfrm>
            <a:off x="548640" y="1645920"/>
            <a:ext cx="82296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400" lang="en-US">
                <a:solidFill>
                  <a:srgbClr val="5B8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dirty="0" sz="3400" lang="en-US"/>
          </a:p>
        </p:txBody>
      </p:sp>
      <p:sp>
        <p:nvSpPr>
          <p:cNvPr id="1048701" name="Text 5"/>
          <p:cNvSpPr txBox="1"/>
          <p:nvPr/>
        </p:nvSpPr>
        <p:spPr>
          <a:xfrm>
            <a:off x="1417320" y="1691640"/>
            <a:ext cx="292608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Computer vision</a:t>
            </a:r>
            <a:endParaRPr dirty="0" sz="1600" lang="en-US"/>
          </a:p>
        </p:txBody>
      </p:sp>
      <p:sp>
        <p:nvSpPr>
          <p:cNvPr id="1048702" name="Text 6"/>
          <p:cNvSpPr txBox="1"/>
          <p:nvPr/>
        </p:nvSpPr>
        <p:spPr>
          <a:xfrm>
            <a:off x="1417320" y="2057400"/>
            <a:ext cx="29260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reads images to find signs of pests.</a:t>
            </a:r>
            <a:endParaRPr dirty="0" sz="1300" lang="en-US"/>
          </a:p>
        </p:txBody>
      </p:sp>
      <p:sp>
        <p:nvSpPr>
          <p:cNvPr id="1048703" name="Text 7"/>
          <p:cNvSpPr txBox="1"/>
          <p:nvPr/>
        </p:nvSpPr>
        <p:spPr>
          <a:xfrm>
            <a:off x="4663440" y="1645920"/>
            <a:ext cx="82296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400" lang="en-US">
                <a:solidFill>
                  <a:srgbClr val="5B8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dirty="0" sz="3400" lang="en-US"/>
          </a:p>
        </p:txBody>
      </p:sp>
      <p:sp>
        <p:nvSpPr>
          <p:cNvPr id="1048704" name="Text 8"/>
          <p:cNvSpPr txBox="1"/>
          <p:nvPr/>
        </p:nvSpPr>
        <p:spPr>
          <a:xfrm>
            <a:off x="5532120" y="1691640"/>
            <a:ext cx="292608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Image classification</a:t>
            </a:r>
            <a:endParaRPr dirty="0" sz="1600" lang="en-US"/>
          </a:p>
        </p:txBody>
      </p:sp>
      <p:sp>
        <p:nvSpPr>
          <p:cNvPr id="1048705" name="Text 9"/>
          <p:cNvSpPr txBox="1"/>
          <p:nvPr/>
        </p:nvSpPr>
        <p:spPr>
          <a:xfrm>
            <a:off x="5532120" y="2057400"/>
            <a:ext cx="29260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photo is labeled healthy or as a type of pest.</a:t>
            </a:r>
            <a:endParaRPr dirty="0" sz="1300" lang="en-US"/>
          </a:p>
        </p:txBody>
      </p:sp>
      <p:sp>
        <p:nvSpPr>
          <p:cNvPr id="1048706" name="Text 10"/>
          <p:cNvSpPr txBox="1"/>
          <p:nvPr/>
        </p:nvSpPr>
        <p:spPr>
          <a:xfrm>
            <a:off x="548640" y="3200400"/>
            <a:ext cx="82296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400" lang="en-US">
                <a:solidFill>
                  <a:srgbClr val="5B8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dirty="0" sz="3400" lang="en-US"/>
          </a:p>
        </p:txBody>
      </p:sp>
      <p:sp>
        <p:nvSpPr>
          <p:cNvPr id="1048707" name="Text 11"/>
          <p:cNvSpPr txBox="1"/>
          <p:nvPr/>
        </p:nvSpPr>
        <p:spPr>
          <a:xfrm>
            <a:off x="1417320" y="3246120"/>
            <a:ext cx="292608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Labeled training data</a:t>
            </a:r>
            <a:endParaRPr dirty="0" sz="1600" lang="en-US"/>
          </a:p>
        </p:txBody>
      </p:sp>
      <p:sp>
        <p:nvSpPr>
          <p:cNvPr id="1048708" name="Text 12"/>
          <p:cNvSpPr txBox="1"/>
          <p:nvPr/>
        </p:nvSpPr>
        <p:spPr>
          <a:xfrm>
            <a:off x="1417320" y="3611880"/>
            <a:ext cx="29260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 plants and plants affected by different pests.</a:t>
            </a:r>
            <a:endParaRPr dirty="0" sz="1300" lang="en-US"/>
          </a:p>
        </p:txBody>
      </p:sp>
      <p:sp>
        <p:nvSpPr>
          <p:cNvPr id="1048709" name="Text 13"/>
          <p:cNvSpPr txBox="1"/>
          <p:nvPr/>
        </p:nvSpPr>
        <p:spPr>
          <a:xfrm>
            <a:off x="4663440" y="3200400"/>
            <a:ext cx="82296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400" lang="en-US">
                <a:solidFill>
                  <a:srgbClr val="5B8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dirty="0" sz="3400" lang="en-US"/>
          </a:p>
        </p:txBody>
      </p:sp>
      <p:sp>
        <p:nvSpPr>
          <p:cNvPr id="1048710" name="Text 14"/>
          <p:cNvSpPr txBox="1"/>
          <p:nvPr/>
        </p:nvSpPr>
        <p:spPr>
          <a:xfrm>
            <a:off x="5532120" y="3246120"/>
            <a:ext cx="292608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6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</a:t>
            </a:r>
            <a:endParaRPr dirty="0" sz="1600" lang="en-US"/>
          </a:p>
        </p:txBody>
      </p:sp>
      <p:sp>
        <p:nvSpPr>
          <p:cNvPr id="1048711" name="Text 15"/>
          <p:cNvSpPr txBox="1"/>
          <p:nvPr/>
        </p:nvSpPr>
        <p:spPr>
          <a:xfrm>
            <a:off x="5532120" y="3611880"/>
            <a:ext cx="292608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check accuracy on new images it has never seen.</a:t>
            </a:r>
            <a:endParaRPr dirty="0" sz="130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1E4"/>
        </a:solidFill>
      </p:bgPr>
    </p:bg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Text 0"/>
          <p:cNvSpPr txBox="1"/>
          <p:nvPr/>
        </p:nvSpPr>
        <p:spPr>
          <a:xfrm>
            <a:off x="548640" y="347472"/>
            <a:ext cx="457200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kern="0" lang="en-US" spc="30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RISKS</a:t>
            </a:r>
            <a:endParaRPr dirty="0" sz="1100" lang="en-US"/>
          </a:p>
        </p:txBody>
      </p:sp>
      <p:sp>
        <p:nvSpPr>
          <p:cNvPr id="1048716" name="Text 1"/>
          <p:cNvSpPr txBox="1"/>
          <p:nvPr/>
        </p:nvSpPr>
        <p:spPr>
          <a:xfrm>
            <a:off x="548640" y="594360"/>
            <a:ext cx="804672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can go wrong</a:t>
            </a:r>
            <a:endParaRPr dirty="0" sz="3000" lang="en-US"/>
          </a:p>
        </p:txBody>
      </p:sp>
      <p:sp>
        <p:nvSpPr>
          <p:cNvPr id="1048717" name="Shape 2"/>
          <p:cNvSpPr/>
          <p:nvPr/>
        </p:nvSpPr>
        <p:spPr>
          <a:xfrm>
            <a:off x="548640" y="1280160"/>
            <a:ext cx="640080" cy="45720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718" name="Text 3"/>
          <p:cNvSpPr txBox="1"/>
          <p:nvPr/>
        </p:nvSpPr>
        <p:spPr>
          <a:xfrm>
            <a:off x="8138160" y="4663440"/>
            <a:ext cx="457200" cy="22860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1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dirty="0" sz="1100" lang="en-US"/>
          </a:p>
        </p:txBody>
      </p:sp>
      <p:sp>
        <p:nvSpPr>
          <p:cNvPr id="1048719" name="Shape 4"/>
          <p:cNvSpPr/>
          <p:nvPr/>
        </p:nvSpPr>
        <p:spPr>
          <a:xfrm>
            <a:off x="548640" y="1645920"/>
            <a:ext cx="2560320" cy="2834640"/>
          </a:xfrm>
          <a:prstGeom prst="rect"/>
          <a:solidFill>
            <a:srgbClr val="FFFFFF"/>
          </a:solidFill>
          <a:ln w="12700">
            <a:solidFill>
              <a:srgbClr val="D9D2BD"/>
            </a:solidFill>
            <a:prstDash val="solid"/>
          </a:ln>
        </p:spPr>
      </p:sp>
      <p:sp>
        <p:nvSpPr>
          <p:cNvPr id="1048720" name="Shape 5"/>
          <p:cNvSpPr/>
          <p:nvPr/>
        </p:nvSpPr>
        <p:spPr>
          <a:xfrm>
            <a:off x="548640" y="1645920"/>
            <a:ext cx="2560320" cy="82296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721" name="Text 6"/>
          <p:cNvSpPr txBox="1"/>
          <p:nvPr/>
        </p:nvSpPr>
        <p:spPr>
          <a:xfrm>
            <a:off x="777240" y="1965960"/>
            <a:ext cx="2103120" cy="3200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8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Bad photo</a:t>
            </a:r>
            <a:endParaRPr dirty="0" sz="1800" lang="en-US"/>
          </a:p>
        </p:txBody>
      </p:sp>
      <p:sp>
        <p:nvSpPr>
          <p:cNvPr id="1048722" name="Text 7"/>
          <p:cNvSpPr txBox="1"/>
          <p:nvPr/>
        </p:nvSpPr>
        <p:spPr>
          <a:xfrm>
            <a:off x="777240" y="2423160"/>
            <a:ext cx="210312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Blurry, dark or too far away.</a:t>
            </a:r>
            <a:endParaRPr dirty="0" sz="1300" lang="en-US"/>
          </a:p>
        </p:txBody>
      </p:sp>
      <p:sp>
        <p:nvSpPr>
          <p:cNvPr id="1048723" name="Text 8"/>
          <p:cNvSpPr txBox="1"/>
          <p:nvPr/>
        </p:nvSpPr>
        <p:spPr>
          <a:xfrm>
            <a:off x="777240" y="3200400"/>
            <a:ext cx="210312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30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dirty="0" sz="1000" lang="en-US"/>
          </a:p>
        </p:txBody>
      </p:sp>
      <p:sp>
        <p:nvSpPr>
          <p:cNvPr id="1048724" name="Text 9"/>
          <p:cNvSpPr txBox="1"/>
          <p:nvPr/>
        </p:nvSpPr>
        <p:spPr>
          <a:xfrm>
            <a:off x="777240" y="3474720"/>
            <a:ext cx="210312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350" lang="en-US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for a clearer photo.</a:t>
            </a:r>
            <a:endParaRPr dirty="0" sz="1350" lang="en-US"/>
          </a:p>
        </p:txBody>
      </p:sp>
      <p:sp>
        <p:nvSpPr>
          <p:cNvPr id="1048725" name="Shape 10"/>
          <p:cNvSpPr/>
          <p:nvPr/>
        </p:nvSpPr>
        <p:spPr>
          <a:xfrm>
            <a:off x="3337560" y="1645920"/>
            <a:ext cx="2560320" cy="2834640"/>
          </a:xfrm>
          <a:prstGeom prst="rect"/>
          <a:solidFill>
            <a:srgbClr val="FFFFFF"/>
          </a:solidFill>
          <a:ln w="12700">
            <a:solidFill>
              <a:srgbClr val="D9D2BD"/>
            </a:solidFill>
            <a:prstDash val="solid"/>
          </a:ln>
        </p:spPr>
      </p:sp>
      <p:sp>
        <p:nvSpPr>
          <p:cNvPr id="1048726" name="Shape 11"/>
          <p:cNvSpPr/>
          <p:nvPr/>
        </p:nvSpPr>
        <p:spPr>
          <a:xfrm>
            <a:off x="3337560" y="1645920"/>
            <a:ext cx="2560320" cy="82296"/>
          </a:xfrm>
          <a:prstGeom prst="rect"/>
          <a:solidFill>
            <a:srgbClr val="5B8C3A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1048727" name="Text 12"/>
          <p:cNvSpPr txBox="1"/>
          <p:nvPr/>
        </p:nvSpPr>
        <p:spPr>
          <a:xfrm>
            <a:off x="3566160" y="1965960"/>
            <a:ext cx="2103120" cy="3200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8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Unknown pest</a:t>
            </a:r>
            <a:endParaRPr dirty="0" sz="1800" lang="en-US"/>
          </a:p>
        </p:txBody>
      </p:sp>
      <p:sp>
        <p:nvSpPr>
          <p:cNvPr id="1048728" name="Text 13"/>
          <p:cNvSpPr txBox="1"/>
          <p:nvPr/>
        </p:nvSpPr>
        <p:spPr>
          <a:xfrm>
            <a:off x="3566160" y="2423160"/>
            <a:ext cx="210312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pest the model has never learned.</a:t>
            </a:r>
            <a:endParaRPr dirty="0" sz="1300" lang="en-US"/>
          </a:p>
        </p:txBody>
      </p:sp>
      <p:sp>
        <p:nvSpPr>
          <p:cNvPr id="1048729" name="Text 14"/>
          <p:cNvSpPr txBox="1"/>
          <p:nvPr/>
        </p:nvSpPr>
        <p:spPr>
          <a:xfrm>
            <a:off x="3566160" y="3200400"/>
            <a:ext cx="210312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300">
                <a:solidFill>
                  <a:srgbClr val="5B8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dirty="0" sz="1000" lang="en-US"/>
          </a:p>
        </p:txBody>
      </p:sp>
      <p:sp>
        <p:nvSpPr>
          <p:cNvPr id="1048730" name="Text 15"/>
          <p:cNvSpPr txBox="1"/>
          <p:nvPr/>
        </p:nvSpPr>
        <p:spPr>
          <a:xfrm>
            <a:off x="3566160" y="3474720"/>
            <a:ext cx="210312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350" lang="en-US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it is unsure instead of guessing.</a:t>
            </a:r>
            <a:endParaRPr dirty="0" sz="1350" lang="en-US"/>
          </a:p>
        </p:txBody>
      </p:sp>
      <p:sp>
        <p:nvSpPr>
          <p:cNvPr id="1048731" name="Shape 16"/>
          <p:cNvSpPr/>
          <p:nvPr/>
        </p:nvSpPr>
        <p:spPr>
          <a:xfrm>
            <a:off x="6126480" y="1645920"/>
            <a:ext cx="2560320" cy="2834640"/>
          </a:xfrm>
          <a:prstGeom prst="rect"/>
          <a:solidFill>
            <a:srgbClr val="FFFFFF"/>
          </a:solidFill>
          <a:ln w="12700">
            <a:solidFill>
              <a:srgbClr val="D9D2BD"/>
            </a:solidFill>
            <a:prstDash val="solid"/>
          </a:ln>
        </p:spPr>
      </p:sp>
      <p:sp>
        <p:nvSpPr>
          <p:cNvPr id="1048732" name="Shape 17"/>
          <p:cNvSpPr/>
          <p:nvPr/>
        </p:nvSpPr>
        <p:spPr>
          <a:xfrm>
            <a:off x="6126480" y="1645920"/>
            <a:ext cx="2560320" cy="82296"/>
          </a:xfrm>
          <a:prstGeom prst="rect"/>
          <a:solidFill>
            <a:srgbClr val="B5462F"/>
          </a:solidFill>
          <a:ln w="12700">
            <a:solidFill>
              <a:srgbClr val="B5462F"/>
            </a:solidFill>
            <a:prstDash val="solid"/>
          </a:ln>
        </p:spPr>
      </p:sp>
      <p:sp>
        <p:nvSpPr>
          <p:cNvPr id="1048733" name="Text 18"/>
          <p:cNvSpPr txBox="1"/>
          <p:nvPr/>
        </p:nvSpPr>
        <p:spPr>
          <a:xfrm>
            <a:off x="6355080" y="1965960"/>
            <a:ext cx="2103120" cy="3200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8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Wrong result</a:t>
            </a:r>
            <a:endParaRPr dirty="0" sz="1800" lang="en-US"/>
          </a:p>
        </p:txBody>
      </p:sp>
      <p:sp>
        <p:nvSpPr>
          <p:cNvPr id="1048734" name="Text 19"/>
          <p:cNvSpPr txBox="1"/>
          <p:nvPr/>
        </p:nvSpPr>
        <p:spPr>
          <a:xfrm>
            <a:off x="6355080" y="2423160"/>
            <a:ext cx="210312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3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false alarm, or a missed pest.</a:t>
            </a:r>
            <a:endParaRPr dirty="0" sz="1300" lang="en-US"/>
          </a:p>
        </p:txBody>
      </p:sp>
      <p:sp>
        <p:nvSpPr>
          <p:cNvPr id="1048735" name="Text 20"/>
          <p:cNvSpPr txBox="1"/>
          <p:nvPr/>
        </p:nvSpPr>
        <p:spPr>
          <a:xfrm>
            <a:off x="6355080" y="3200400"/>
            <a:ext cx="210312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000" kern="0" lang="en-US" spc="300">
                <a:solidFill>
                  <a:srgbClr val="B546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dirty="0" sz="1000" lang="en-US"/>
          </a:p>
        </p:txBody>
      </p:sp>
      <p:sp>
        <p:nvSpPr>
          <p:cNvPr id="1048736" name="Text 21"/>
          <p:cNvSpPr txBox="1"/>
          <p:nvPr/>
        </p:nvSpPr>
        <p:spPr>
          <a:xfrm>
            <a:off x="6355080" y="3474720"/>
            <a:ext cx="210312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350" lang="en-US">
                <a:solidFill>
                  <a:srgbClr val="22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checking with an expert.</a:t>
            </a:r>
            <a:endParaRPr dirty="0" sz="135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1E4"/>
        </a:solidFill>
      </p:bgPr>
    </p:bg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0" name="Text 0"/>
          <p:cNvSpPr txBox="1"/>
          <p:nvPr/>
        </p:nvSpPr>
        <p:spPr>
          <a:xfrm>
            <a:off x="548640" y="347472"/>
            <a:ext cx="457200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kern="0" lang="en-US" spc="30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WHY IT HELPS</a:t>
            </a:r>
            <a:endParaRPr dirty="0" sz="1100" lang="en-US"/>
          </a:p>
        </p:txBody>
      </p:sp>
      <p:sp>
        <p:nvSpPr>
          <p:cNvPr id="1048741" name="Text 1"/>
          <p:cNvSpPr txBox="1"/>
          <p:nvPr/>
        </p:nvSpPr>
        <p:spPr>
          <a:xfrm>
            <a:off x="548640" y="594360"/>
            <a:ext cx="804672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Guessing vs. our detector</a:t>
            </a:r>
            <a:endParaRPr dirty="0" sz="3000" lang="en-US"/>
          </a:p>
        </p:txBody>
      </p:sp>
      <p:sp>
        <p:nvSpPr>
          <p:cNvPr id="1048742" name="Shape 2"/>
          <p:cNvSpPr/>
          <p:nvPr/>
        </p:nvSpPr>
        <p:spPr>
          <a:xfrm>
            <a:off x="548640" y="1280160"/>
            <a:ext cx="640080" cy="45720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743" name="Text 3"/>
          <p:cNvSpPr txBox="1"/>
          <p:nvPr/>
        </p:nvSpPr>
        <p:spPr>
          <a:xfrm>
            <a:off x="8138160" y="4663440"/>
            <a:ext cx="457200" cy="22860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1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dirty="0" sz="1100" lang="en-US"/>
          </a:p>
        </p:txBody>
      </p:sp>
      <p:sp>
        <p:nvSpPr>
          <p:cNvPr id="1048744" name="Shape 4"/>
          <p:cNvSpPr/>
          <p:nvPr/>
        </p:nvSpPr>
        <p:spPr>
          <a:xfrm>
            <a:off x="548640" y="1645920"/>
            <a:ext cx="3840480" cy="2834640"/>
          </a:xfrm>
          <a:prstGeom prst="rect"/>
          <a:solidFill>
            <a:srgbClr val="ECE6D3"/>
          </a:solidFill>
          <a:ln w="12700">
            <a:solidFill>
              <a:srgbClr val="ECE6D3"/>
            </a:solidFill>
            <a:prstDash val="solid"/>
          </a:ln>
        </p:spPr>
      </p:sp>
      <p:sp>
        <p:nvSpPr>
          <p:cNvPr id="1048745" name="Shape 5"/>
          <p:cNvSpPr/>
          <p:nvPr/>
        </p:nvSpPr>
        <p:spPr>
          <a:xfrm>
            <a:off x="4572000" y="1645920"/>
            <a:ext cx="4023360" cy="2834640"/>
          </a:xfrm>
          <a:prstGeom prst="rect"/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48746" name="Text 6"/>
          <p:cNvSpPr txBox="1"/>
          <p:nvPr/>
        </p:nvSpPr>
        <p:spPr>
          <a:xfrm>
            <a:off x="822960" y="1828800"/>
            <a:ext cx="3291840" cy="3657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800" lang="en-US">
                <a:solidFill>
                  <a:srgbClr val="6B746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guessing</a:t>
            </a:r>
            <a:endParaRPr dirty="0" sz="1800" lang="en-US"/>
          </a:p>
        </p:txBody>
      </p:sp>
      <p:sp>
        <p:nvSpPr>
          <p:cNvPr id="1048747" name="Text 7"/>
          <p:cNvSpPr txBox="1"/>
          <p:nvPr/>
        </p:nvSpPr>
        <p:spPr>
          <a:xfrm>
            <a:off x="4846320" y="1828800"/>
            <a:ext cx="3474720" cy="3657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800" lang="en-US">
                <a:solidFill>
                  <a:srgbClr val="D98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detector</a:t>
            </a:r>
            <a:endParaRPr dirty="0" sz="1800" lang="en-US"/>
          </a:p>
        </p:txBody>
      </p:sp>
      <p:sp>
        <p:nvSpPr>
          <p:cNvPr id="1048748" name="Text 8"/>
          <p:cNvSpPr txBox="1"/>
          <p:nvPr/>
        </p:nvSpPr>
        <p:spPr>
          <a:xfrm>
            <a:off x="822960" y="2423160"/>
            <a:ext cx="3383280" cy="19202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spcAft>
                <a:spcPts val="1200"/>
              </a:spcAft>
              <a:buNone/>
            </a:pPr>
            <a:r>
              <a:rPr dirty="0" sz="15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Depends on experience</a:t>
            </a:r>
            <a:endParaRPr dirty="0" sz="1500" lang="en-US"/>
          </a:p>
          <a:p>
            <a:pPr indent="0" marL="0">
              <a:spcAft>
                <a:spcPts val="1200"/>
              </a:spcAft>
              <a:buNone/>
            </a:pPr>
            <a:r>
              <a:rPr dirty="0" sz="15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Small signs are missed</a:t>
            </a:r>
            <a:endParaRPr dirty="0" sz="1500" lang="en-US"/>
          </a:p>
          <a:p>
            <a:pPr indent="0" marL="0">
              <a:spcAft>
                <a:spcPts val="1200"/>
              </a:spcAft>
              <a:buNone/>
            </a:pPr>
            <a:r>
              <a:rPr dirty="0" sz="15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Problem found late</a:t>
            </a:r>
            <a:endParaRPr dirty="0" sz="1500" lang="en-US"/>
          </a:p>
          <a:p>
            <a:pPr indent="0" marL="0">
              <a:spcAft>
                <a:spcPts val="1200"/>
              </a:spcAft>
              <a:buNone/>
            </a:pPr>
            <a:r>
              <a:rPr dirty="0" sz="15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Pesticide "just in case"</a:t>
            </a:r>
            <a:endParaRPr dirty="0" sz="1500" lang="en-US"/>
          </a:p>
        </p:txBody>
      </p:sp>
      <p:sp>
        <p:nvSpPr>
          <p:cNvPr id="1048749" name="Text 9"/>
          <p:cNvSpPr txBox="1"/>
          <p:nvPr/>
        </p:nvSpPr>
        <p:spPr>
          <a:xfrm>
            <a:off x="4846320" y="2423160"/>
            <a:ext cx="3566160" cy="19202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spcAft>
                <a:spcPts val="1200"/>
              </a:spcAft>
              <a:buNone/>
            </a:pPr>
            <a:r>
              <a:rPr dirty="0" sz="15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Answer in seconds</a:t>
            </a:r>
            <a:endParaRPr dirty="0" sz="1500" lang="en-US"/>
          </a:p>
          <a:p>
            <a:pPr indent="0" marL="0">
              <a:spcAft>
                <a:spcPts val="1200"/>
              </a:spcAft>
              <a:buNone/>
            </a:pPr>
            <a:r>
              <a:rPr dirty="0" sz="15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Catches early signs</a:t>
            </a:r>
            <a:endParaRPr dirty="0" sz="1500" lang="en-US"/>
          </a:p>
          <a:p>
            <a:pPr indent="0" marL="0">
              <a:spcAft>
                <a:spcPts val="1200"/>
              </a:spcAft>
              <a:buNone/>
            </a:pPr>
            <a:r>
              <a:rPr dirty="0" sz="15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Names the likely pest</a:t>
            </a:r>
            <a:endParaRPr dirty="0" sz="1500" lang="en-US"/>
          </a:p>
          <a:p>
            <a:pPr indent="0" marL="0">
              <a:spcAft>
                <a:spcPts val="1200"/>
              </a:spcAft>
              <a:buNone/>
            </a:pPr>
            <a:r>
              <a:rPr dirty="0" sz="15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Less unneeded pesticide</a:t>
            </a:r>
            <a:endParaRPr dirty="0" sz="150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1E4"/>
        </a:solidFill>
      </p:bgPr>
    </p:bg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3" name="Text 0"/>
          <p:cNvSpPr txBox="1"/>
          <p:nvPr/>
        </p:nvSpPr>
        <p:spPr>
          <a:xfrm>
            <a:off x="548640" y="347472"/>
            <a:ext cx="457200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kern="0" lang="en-US" spc="30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TESTING</a:t>
            </a:r>
            <a:endParaRPr dirty="0" sz="1100" lang="en-US"/>
          </a:p>
        </p:txBody>
      </p:sp>
      <p:sp>
        <p:nvSpPr>
          <p:cNvPr id="1048754" name="Text 1"/>
          <p:cNvSpPr txBox="1"/>
          <p:nvPr/>
        </p:nvSpPr>
        <p:spPr>
          <a:xfrm>
            <a:off x="548640" y="594360"/>
            <a:ext cx="804672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we'll test it</a:t>
            </a:r>
            <a:endParaRPr dirty="0" sz="3000" lang="en-US"/>
          </a:p>
        </p:txBody>
      </p:sp>
      <p:sp>
        <p:nvSpPr>
          <p:cNvPr id="1048755" name="Shape 2"/>
          <p:cNvSpPr/>
          <p:nvPr/>
        </p:nvSpPr>
        <p:spPr>
          <a:xfrm>
            <a:off x="548640" y="1280160"/>
            <a:ext cx="640080" cy="45720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756" name="Text 3"/>
          <p:cNvSpPr txBox="1"/>
          <p:nvPr/>
        </p:nvSpPr>
        <p:spPr>
          <a:xfrm>
            <a:off x="8138160" y="4663440"/>
            <a:ext cx="457200" cy="22860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1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dirty="0" sz="1100" lang="en-US"/>
          </a:p>
        </p:txBody>
      </p:sp>
      <p:sp>
        <p:nvSpPr>
          <p:cNvPr id="1048757" name="Text 4"/>
          <p:cNvSpPr txBox="1"/>
          <p:nvPr/>
        </p:nvSpPr>
        <p:spPr>
          <a:xfrm>
            <a:off x="548640" y="1554480"/>
            <a:ext cx="8046720" cy="3200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most images, then test on new ones the model has never seen.</a:t>
            </a:r>
            <a:endParaRPr dirty="0" sz="1500" lang="en-US"/>
          </a:p>
        </p:txBody>
      </p:sp>
      <p:sp>
        <p:nvSpPr>
          <p:cNvPr id="1048758" name="Shape 5"/>
          <p:cNvSpPr/>
          <p:nvPr/>
        </p:nvSpPr>
        <p:spPr>
          <a:xfrm>
            <a:off x="548640" y="2057400"/>
            <a:ext cx="6400800" cy="548640"/>
          </a:xfrm>
          <a:prstGeom prst="rect"/>
          <a:solidFill>
            <a:srgbClr val="5B8C3A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1048759" name="Shape 6"/>
          <p:cNvSpPr/>
          <p:nvPr/>
        </p:nvSpPr>
        <p:spPr>
          <a:xfrm>
            <a:off x="6949440" y="2057400"/>
            <a:ext cx="1645920" cy="548640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760" name="Text 7"/>
          <p:cNvSpPr txBox="1"/>
          <p:nvPr/>
        </p:nvSpPr>
        <p:spPr>
          <a:xfrm>
            <a:off x="548640" y="2057400"/>
            <a:ext cx="6400800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4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dirty="0" sz="1400" lang="en-US"/>
          </a:p>
        </p:txBody>
      </p:sp>
      <p:sp>
        <p:nvSpPr>
          <p:cNvPr id="1048761" name="Text 8"/>
          <p:cNvSpPr txBox="1"/>
          <p:nvPr/>
        </p:nvSpPr>
        <p:spPr>
          <a:xfrm>
            <a:off x="6949440" y="2057400"/>
            <a:ext cx="1645920" cy="548640"/>
          </a:xfrm>
          <a:prstGeom prst="rect"/>
          <a:noFill/>
        </p:spPr>
        <p:txBody>
          <a:bodyPr anchor="ctr" bIns="0" lIns="0" rIns="0" rtlCol="0" tIns="0" wrap="square"/>
          <a:p>
            <a:pPr algn="ctr" indent="0" marL="0">
              <a:buNone/>
            </a:pPr>
            <a:r>
              <a:rPr b="1" dirty="0" sz="12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test images</a:t>
            </a:r>
            <a:endParaRPr dirty="0" sz="1200" lang="en-US"/>
          </a:p>
        </p:txBody>
      </p:sp>
      <p:sp>
        <p:nvSpPr>
          <p:cNvPr id="1048762" name="Text 9"/>
          <p:cNvSpPr txBox="1"/>
          <p:nvPr/>
        </p:nvSpPr>
        <p:spPr>
          <a:xfrm>
            <a:off x="548640" y="2651760"/>
            <a:ext cx="457200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000" i="1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split, we may adjust it</a:t>
            </a:r>
            <a:endParaRPr dirty="0" sz="1000" lang="en-US"/>
          </a:p>
        </p:txBody>
      </p:sp>
      <p:sp>
        <p:nvSpPr>
          <p:cNvPr id="1048763" name="Shape 10"/>
          <p:cNvSpPr/>
          <p:nvPr/>
        </p:nvSpPr>
        <p:spPr>
          <a:xfrm>
            <a:off x="548640" y="3200400"/>
            <a:ext cx="1874520" cy="36576"/>
          </a:xfrm>
          <a:prstGeom prst="rect"/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48764" name="Text 11"/>
          <p:cNvSpPr txBox="1"/>
          <p:nvPr/>
        </p:nvSpPr>
        <p:spPr>
          <a:xfrm>
            <a:off x="548640" y="3383280"/>
            <a:ext cx="187452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Healthy plants</a:t>
            </a:r>
            <a:endParaRPr dirty="0" sz="1500" lang="en-US"/>
          </a:p>
        </p:txBody>
      </p:sp>
      <p:sp>
        <p:nvSpPr>
          <p:cNvPr id="1048765" name="Text 12"/>
          <p:cNvSpPr txBox="1"/>
          <p:nvPr/>
        </p:nvSpPr>
        <p:spPr>
          <a:xfrm>
            <a:off x="548640" y="3703320"/>
            <a:ext cx="1874520" cy="5486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pests present</a:t>
            </a:r>
            <a:endParaRPr dirty="0" sz="1250" lang="en-US"/>
          </a:p>
        </p:txBody>
      </p:sp>
      <p:sp>
        <p:nvSpPr>
          <p:cNvPr id="1048766" name="Shape 13"/>
          <p:cNvSpPr/>
          <p:nvPr/>
        </p:nvSpPr>
        <p:spPr>
          <a:xfrm>
            <a:off x="2606040" y="3200400"/>
            <a:ext cx="1874520" cy="36576"/>
          </a:xfrm>
          <a:prstGeom prst="rect"/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48767" name="Text 14"/>
          <p:cNvSpPr txBox="1"/>
          <p:nvPr/>
        </p:nvSpPr>
        <p:spPr>
          <a:xfrm>
            <a:off x="2606040" y="3383280"/>
            <a:ext cx="187452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Known pests</a:t>
            </a:r>
            <a:endParaRPr dirty="0" sz="1500" lang="en-US"/>
          </a:p>
        </p:txBody>
      </p:sp>
      <p:sp>
        <p:nvSpPr>
          <p:cNvPr id="1048768" name="Text 15"/>
          <p:cNvSpPr txBox="1"/>
          <p:nvPr/>
        </p:nvSpPr>
        <p:spPr>
          <a:xfrm>
            <a:off x="2606040" y="3703320"/>
            <a:ext cx="1874520" cy="5486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it was trained on</a:t>
            </a:r>
            <a:endParaRPr dirty="0" sz="1250" lang="en-US"/>
          </a:p>
        </p:txBody>
      </p:sp>
      <p:sp>
        <p:nvSpPr>
          <p:cNvPr id="1048769" name="Shape 16"/>
          <p:cNvSpPr/>
          <p:nvPr/>
        </p:nvSpPr>
        <p:spPr>
          <a:xfrm>
            <a:off x="4663440" y="3200400"/>
            <a:ext cx="1874520" cy="36576"/>
          </a:xfrm>
          <a:prstGeom prst="rect"/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48770" name="Text 17"/>
          <p:cNvSpPr txBox="1"/>
          <p:nvPr/>
        </p:nvSpPr>
        <p:spPr>
          <a:xfrm>
            <a:off x="4663440" y="3383280"/>
            <a:ext cx="187452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Hard photos</a:t>
            </a:r>
            <a:endParaRPr dirty="0" sz="1500" lang="en-US"/>
          </a:p>
        </p:txBody>
      </p:sp>
      <p:sp>
        <p:nvSpPr>
          <p:cNvPr id="1048771" name="Text 18"/>
          <p:cNvSpPr txBox="1"/>
          <p:nvPr/>
        </p:nvSpPr>
        <p:spPr>
          <a:xfrm>
            <a:off x="4663440" y="3703320"/>
            <a:ext cx="1874520" cy="5486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Blurry, dark or partial</a:t>
            </a:r>
            <a:endParaRPr dirty="0" sz="1250" lang="en-US"/>
          </a:p>
        </p:txBody>
      </p:sp>
      <p:sp>
        <p:nvSpPr>
          <p:cNvPr id="1048772" name="Shape 19"/>
          <p:cNvSpPr/>
          <p:nvPr/>
        </p:nvSpPr>
        <p:spPr>
          <a:xfrm>
            <a:off x="6720840" y="3200400"/>
            <a:ext cx="1874520" cy="36576"/>
          </a:xfrm>
          <a:prstGeom prst="rect"/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48773" name="Text 20"/>
          <p:cNvSpPr txBox="1"/>
          <p:nvPr/>
        </p:nvSpPr>
        <p:spPr>
          <a:xfrm>
            <a:off x="6720840" y="3383280"/>
            <a:ext cx="1874520" cy="2743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5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Unseen images</a:t>
            </a:r>
            <a:endParaRPr dirty="0" sz="1500" lang="en-US"/>
          </a:p>
        </p:txBody>
      </p:sp>
      <p:sp>
        <p:nvSpPr>
          <p:cNvPr id="1048774" name="Text 21"/>
          <p:cNvSpPr txBox="1"/>
          <p:nvPr/>
        </p:nvSpPr>
        <p:spPr>
          <a:xfrm>
            <a:off x="6720840" y="3703320"/>
            <a:ext cx="1874520" cy="54864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25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the model</a:t>
            </a:r>
            <a:endParaRPr dirty="0" sz="1250"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4"/>
        </a:solidFill>
      </p:bgPr>
    </p:bg>
    <p:spTree>
      <p:nvGrpSpPr>
        <p:cNvPr id="4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8" name="Text 0"/>
          <p:cNvSpPr txBox="1"/>
          <p:nvPr/>
        </p:nvSpPr>
        <p:spPr>
          <a:xfrm>
            <a:off x="548640" y="347472"/>
            <a:ext cx="457200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kern="0" lang="en-US" spc="30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RESULTS</a:t>
            </a:r>
            <a:endParaRPr dirty="0" sz="1100" lang="en-US"/>
          </a:p>
        </p:txBody>
      </p:sp>
      <p:sp>
        <p:nvSpPr>
          <p:cNvPr id="1048779" name="Text 1"/>
          <p:cNvSpPr txBox="1"/>
          <p:nvPr/>
        </p:nvSpPr>
        <p:spPr>
          <a:xfrm>
            <a:off x="548640" y="594360"/>
            <a:ext cx="804672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we'll measure</a:t>
            </a:r>
            <a:endParaRPr dirty="0" sz="3000" lang="en-US"/>
          </a:p>
        </p:txBody>
      </p:sp>
      <p:sp>
        <p:nvSpPr>
          <p:cNvPr id="1048780" name="Shape 2"/>
          <p:cNvSpPr/>
          <p:nvPr/>
        </p:nvSpPr>
        <p:spPr>
          <a:xfrm>
            <a:off x="548640" y="1280160"/>
            <a:ext cx="640080" cy="45720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781" name="Text 3"/>
          <p:cNvSpPr txBox="1"/>
          <p:nvPr/>
        </p:nvSpPr>
        <p:spPr>
          <a:xfrm>
            <a:off x="8138160" y="4663440"/>
            <a:ext cx="457200" cy="228600"/>
          </a:xfrm>
          <a:prstGeom prst="rect"/>
          <a:noFill/>
        </p:spPr>
        <p:txBody>
          <a:bodyPr anchor="t" bIns="0" lIns="0" rIns="0" rtlCol="0" tIns="0" wrap="square"/>
          <a:p>
            <a:pPr algn="r" indent="0" marL="0">
              <a:buNone/>
            </a:pPr>
            <a:r>
              <a:rPr dirty="0" sz="11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dirty="0" sz="1100" lang="en-US"/>
          </a:p>
        </p:txBody>
      </p:sp>
      <p:sp>
        <p:nvSpPr>
          <p:cNvPr id="1048782" name="Shape 4"/>
          <p:cNvSpPr/>
          <p:nvPr/>
        </p:nvSpPr>
        <p:spPr>
          <a:xfrm>
            <a:off x="548640" y="1645920"/>
            <a:ext cx="82296" cy="1097280"/>
          </a:xfrm>
          <a:prstGeom prst="rect"/>
          <a:solidFill>
            <a:srgbClr val="5B8C3A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1048783" name="Text 5"/>
          <p:cNvSpPr txBox="1"/>
          <p:nvPr/>
        </p:nvSpPr>
        <p:spPr>
          <a:xfrm>
            <a:off x="868680" y="1645920"/>
            <a:ext cx="3474720" cy="3657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</a:t>
            </a:r>
            <a:endParaRPr dirty="0" sz="2000" lang="en-US"/>
          </a:p>
        </p:txBody>
      </p:sp>
      <p:sp>
        <p:nvSpPr>
          <p:cNvPr id="1048784" name="Text 6"/>
          <p:cNvSpPr txBox="1"/>
          <p:nvPr/>
        </p:nvSpPr>
        <p:spPr>
          <a:xfrm>
            <a:off x="868680" y="2103120"/>
            <a:ext cx="347472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the result is correct.</a:t>
            </a:r>
            <a:endParaRPr dirty="0" sz="1400" lang="en-US"/>
          </a:p>
        </p:txBody>
      </p:sp>
      <p:sp>
        <p:nvSpPr>
          <p:cNvPr id="1048785" name="Shape 7"/>
          <p:cNvSpPr/>
          <p:nvPr/>
        </p:nvSpPr>
        <p:spPr>
          <a:xfrm>
            <a:off x="4663440" y="1645920"/>
            <a:ext cx="82296" cy="1097280"/>
          </a:xfrm>
          <a:prstGeom prst="rect"/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48786" name="Text 8"/>
          <p:cNvSpPr txBox="1"/>
          <p:nvPr/>
        </p:nvSpPr>
        <p:spPr>
          <a:xfrm>
            <a:off x="4983480" y="1645920"/>
            <a:ext cx="3474720" cy="3657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Pest type</a:t>
            </a:r>
            <a:endParaRPr dirty="0" sz="2000" lang="en-US"/>
          </a:p>
        </p:txBody>
      </p:sp>
      <p:sp>
        <p:nvSpPr>
          <p:cNvPr id="1048787" name="Text 9"/>
          <p:cNvSpPr txBox="1"/>
          <p:nvPr/>
        </p:nvSpPr>
        <p:spPr>
          <a:xfrm>
            <a:off x="4983480" y="2103120"/>
            <a:ext cx="347472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well it names the right pest.</a:t>
            </a:r>
            <a:endParaRPr dirty="0" sz="1400" lang="en-US"/>
          </a:p>
        </p:txBody>
      </p:sp>
      <p:sp>
        <p:nvSpPr>
          <p:cNvPr id="1048788" name="Shape 10"/>
          <p:cNvSpPr/>
          <p:nvPr/>
        </p:nvSpPr>
        <p:spPr>
          <a:xfrm>
            <a:off x="548640" y="3200400"/>
            <a:ext cx="82296" cy="1097280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789" name="Text 11"/>
          <p:cNvSpPr txBox="1"/>
          <p:nvPr/>
        </p:nvSpPr>
        <p:spPr>
          <a:xfrm>
            <a:off x="868680" y="3200400"/>
            <a:ext cx="3474720" cy="3657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False alarms</a:t>
            </a:r>
            <a:endParaRPr dirty="0" sz="2000" lang="en-US"/>
          </a:p>
        </p:txBody>
      </p:sp>
      <p:sp>
        <p:nvSpPr>
          <p:cNvPr id="1048790" name="Text 12"/>
          <p:cNvSpPr txBox="1"/>
          <p:nvPr/>
        </p:nvSpPr>
        <p:spPr>
          <a:xfrm>
            <a:off x="868680" y="3657600"/>
            <a:ext cx="347472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Pests reported that were not there.</a:t>
            </a:r>
            <a:endParaRPr dirty="0" sz="1400" lang="en-US"/>
          </a:p>
        </p:txBody>
      </p:sp>
      <p:sp>
        <p:nvSpPr>
          <p:cNvPr id="1048791" name="Shape 13"/>
          <p:cNvSpPr/>
          <p:nvPr/>
        </p:nvSpPr>
        <p:spPr>
          <a:xfrm>
            <a:off x="4663440" y="3200400"/>
            <a:ext cx="82296" cy="1097280"/>
          </a:xfrm>
          <a:prstGeom prst="rect"/>
          <a:solidFill>
            <a:srgbClr val="B5462F"/>
          </a:solidFill>
          <a:ln w="12700">
            <a:solidFill>
              <a:srgbClr val="B5462F"/>
            </a:solidFill>
            <a:prstDash val="solid"/>
          </a:ln>
        </p:spPr>
      </p:sp>
      <p:sp>
        <p:nvSpPr>
          <p:cNvPr id="1048792" name="Text 14"/>
          <p:cNvSpPr txBox="1"/>
          <p:nvPr/>
        </p:nvSpPr>
        <p:spPr>
          <a:xfrm>
            <a:off x="4983480" y="3200400"/>
            <a:ext cx="3474720" cy="3657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1F3D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Missed pests</a:t>
            </a:r>
            <a:endParaRPr dirty="0" sz="2000" lang="en-US"/>
          </a:p>
        </p:txBody>
      </p:sp>
      <p:sp>
        <p:nvSpPr>
          <p:cNvPr id="1048793" name="Text 15"/>
          <p:cNvSpPr txBox="1"/>
          <p:nvPr/>
        </p:nvSpPr>
        <p:spPr>
          <a:xfrm>
            <a:off x="4983480" y="3657600"/>
            <a:ext cx="347472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400" lang="en-US">
                <a:solidFill>
                  <a:srgbClr val="6B74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Pests it failed to find.</a:t>
            </a:r>
            <a:endParaRPr dirty="0" sz="1400"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D2B"/>
        </a:solidFill>
      </p:bgPr>
    </p:bg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7" name="Text 0"/>
          <p:cNvSpPr txBox="1"/>
          <p:nvPr/>
        </p:nvSpPr>
        <p:spPr>
          <a:xfrm>
            <a:off x="548640" y="347472"/>
            <a:ext cx="4572000" cy="22860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1100" kern="0" lang="en-US" spc="300">
                <a:solidFill>
                  <a:srgbClr val="D98E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WHY IT MATTERS</a:t>
            </a:r>
            <a:endParaRPr dirty="0" sz="1100" lang="en-US"/>
          </a:p>
        </p:txBody>
      </p:sp>
      <p:sp>
        <p:nvSpPr>
          <p:cNvPr id="1048798" name="Text 1"/>
          <p:cNvSpPr txBox="1"/>
          <p:nvPr/>
        </p:nvSpPr>
        <p:spPr>
          <a:xfrm>
            <a:off x="548640" y="594360"/>
            <a:ext cx="8046720" cy="64008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30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matters</a:t>
            </a:r>
            <a:endParaRPr dirty="0" sz="3000" lang="en-US"/>
          </a:p>
        </p:txBody>
      </p:sp>
      <p:sp>
        <p:nvSpPr>
          <p:cNvPr id="1048799" name="Shape 2"/>
          <p:cNvSpPr/>
          <p:nvPr/>
        </p:nvSpPr>
        <p:spPr>
          <a:xfrm>
            <a:off x="548640" y="1280160"/>
            <a:ext cx="640080" cy="45720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800" name="Text 3"/>
          <p:cNvSpPr txBox="1"/>
          <p:nvPr/>
        </p:nvSpPr>
        <p:spPr>
          <a:xfrm>
            <a:off x="548640" y="1828800"/>
            <a:ext cx="3657600" cy="3657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D98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Course fit</a:t>
            </a:r>
            <a:endParaRPr dirty="0" sz="2200" lang="en-US"/>
          </a:p>
        </p:txBody>
      </p:sp>
      <p:sp>
        <p:nvSpPr>
          <p:cNvPr id="1048801" name="Text 4"/>
          <p:cNvSpPr txBox="1"/>
          <p:nvPr/>
        </p:nvSpPr>
        <p:spPr>
          <a:xfrm>
            <a:off x="548640" y="2331720"/>
            <a:ext cx="3566160" cy="16459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core AI ideas: computer vision, image classification, and training and testing a model on labeled data.</a:t>
            </a:r>
            <a:endParaRPr dirty="0" sz="1500" lang="en-US"/>
          </a:p>
        </p:txBody>
      </p:sp>
      <p:sp>
        <p:nvSpPr>
          <p:cNvPr id="1048802" name="Shape 5"/>
          <p:cNvSpPr/>
          <p:nvPr/>
        </p:nvSpPr>
        <p:spPr>
          <a:xfrm>
            <a:off x="4572000" y="1828800"/>
            <a:ext cx="13716" cy="2377440"/>
          </a:xfrm>
          <a:prstGeom prst="rect"/>
          <a:solidFill>
            <a:srgbClr val="5B8C3A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1048803" name="Text 6"/>
          <p:cNvSpPr txBox="1"/>
          <p:nvPr/>
        </p:nvSpPr>
        <p:spPr>
          <a:xfrm>
            <a:off x="4937760" y="1828800"/>
            <a:ext cx="3657600" cy="3657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200" lang="en-US">
                <a:solidFill>
                  <a:srgbClr val="D98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farmers</a:t>
            </a:r>
            <a:endParaRPr dirty="0" sz="2200" lang="en-US"/>
          </a:p>
        </p:txBody>
      </p:sp>
      <p:sp>
        <p:nvSpPr>
          <p:cNvPr id="1048804" name="Text 7"/>
          <p:cNvSpPr txBox="1"/>
          <p:nvPr/>
        </p:nvSpPr>
        <p:spPr>
          <a:xfrm>
            <a:off x="4937760" y="2331720"/>
            <a:ext cx="3566160" cy="164592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500" lang="en-US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reactions, less crop damage, less unnecessary pesticide, and help that needs only a smartphone.</a:t>
            </a:r>
            <a:endParaRPr dirty="0" sz="1500"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D2B"/>
        </a:solidFill>
      </p:bgPr>
    </p:bg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8" name="Shape 0"/>
          <p:cNvSpPr/>
          <p:nvPr/>
        </p:nvSpPr>
        <p:spPr>
          <a:xfrm>
            <a:off x="5760720" y="914400"/>
            <a:ext cx="2926080" cy="2926080"/>
          </a:xfrm>
          <a:prstGeom prst="ellipse"/>
          <a:solidFill>
            <a:srgbClr val="5B8C3A"/>
          </a:solidFill>
          <a:ln w="12700">
            <a:solidFill>
              <a:srgbClr val="5B8C3A"/>
            </a:solidFill>
            <a:prstDash val="solid"/>
          </a:ln>
        </p:spPr>
      </p:sp>
      <p:sp>
        <p:nvSpPr>
          <p:cNvPr id="1048809" name="Shape 1"/>
          <p:cNvSpPr/>
          <p:nvPr/>
        </p:nvSpPr>
        <p:spPr>
          <a:xfrm>
            <a:off x="6080760" y="1234440"/>
            <a:ext cx="2286000" cy="2286000"/>
          </a:xfrm>
          <a:prstGeom prst="ellipse"/>
          <a:solidFill>
            <a:srgbClr val="74A44C"/>
          </a:solidFill>
          <a:ln w="12700">
            <a:solidFill>
              <a:srgbClr val="74A44C"/>
            </a:solidFill>
            <a:prstDash val="solid"/>
          </a:ln>
        </p:spPr>
      </p:sp>
      <p:sp>
        <p:nvSpPr>
          <p:cNvPr id="1048810" name="Shape 2"/>
          <p:cNvSpPr/>
          <p:nvPr/>
        </p:nvSpPr>
        <p:spPr>
          <a:xfrm>
            <a:off x="6492240" y="1737360"/>
            <a:ext cx="457200" cy="457200"/>
          </a:xfrm>
          <a:prstGeom prst="ellipse"/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48811" name="Shape 3"/>
          <p:cNvSpPr/>
          <p:nvPr/>
        </p:nvSpPr>
        <p:spPr>
          <a:xfrm>
            <a:off x="7315200" y="1463040"/>
            <a:ext cx="320040" cy="320040"/>
          </a:xfrm>
          <a:prstGeom prst="ellipse"/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48812" name="Shape 4"/>
          <p:cNvSpPr/>
          <p:nvPr/>
        </p:nvSpPr>
        <p:spPr>
          <a:xfrm>
            <a:off x="7498080" y="2468880"/>
            <a:ext cx="502920" cy="502920"/>
          </a:xfrm>
          <a:prstGeom prst="ellipse"/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48813" name="Shape 5"/>
          <p:cNvSpPr/>
          <p:nvPr/>
        </p:nvSpPr>
        <p:spPr>
          <a:xfrm>
            <a:off x="6583680" y="2651760"/>
            <a:ext cx="274320" cy="274320"/>
          </a:xfrm>
          <a:prstGeom prst="ellipse"/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48814" name="Shape 6"/>
          <p:cNvSpPr/>
          <p:nvPr/>
        </p:nvSpPr>
        <p:spPr>
          <a:xfrm>
            <a:off x="6949440" y="2011680"/>
            <a:ext cx="201168" cy="201168"/>
          </a:xfrm>
          <a:prstGeom prst="ellipse"/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1048815" name="Shape 7"/>
          <p:cNvSpPr/>
          <p:nvPr/>
        </p:nvSpPr>
        <p:spPr>
          <a:xfrm>
            <a:off x="7909560" y="1371600"/>
            <a:ext cx="274320" cy="274320"/>
          </a:xfrm>
          <a:prstGeom prst="ellipse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816" name="Text 8"/>
          <p:cNvSpPr txBox="1"/>
          <p:nvPr/>
        </p:nvSpPr>
        <p:spPr>
          <a:xfrm>
            <a:off x="548640" y="1554480"/>
            <a:ext cx="5029200" cy="8229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4400" lang="en-US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dirty="0" sz="4400" lang="en-US"/>
          </a:p>
        </p:txBody>
      </p:sp>
      <p:sp>
        <p:nvSpPr>
          <p:cNvPr id="1048817" name="Text 9"/>
          <p:cNvSpPr txBox="1"/>
          <p:nvPr/>
        </p:nvSpPr>
        <p:spPr>
          <a:xfrm>
            <a:off x="548640" y="2514600"/>
            <a:ext cx="5029200" cy="3657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dirty="0" sz="1800" i="1" lang="en-US">
                <a:solidFill>
                  <a:srgbClr val="DDE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We'd love to hear your feedback.</a:t>
            </a:r>
            <a:endParaRPr dirty="0" sz="1800" lang="en-US"/>
          </a:p>
        </p:txBody>
      </p:sp>
      <p:sp>
        <p:nvSpPr>
          <p:cNvPr id="1048818" name="Shape 10"/>
          <p:cNvSpPr/>
          <p:nvPr/>
        </p:nvSpPr>
        <p:spPr>
          <a:xfrm>
            <a:off x="548640" y="3108960"/>
            <a:ext cx="640080" cy="45720"/>
          </a:xfrm>
          <a:prstGeom prst="rect"/>
          <a:solidFill>
            <a:srgbClr val="D98E2B"/>
          </a:solidFill>
          <a:ln w="12700">
            <a:solidFill>
              <a:srgbClr val="D98E2B"/>
            </a:solidFill>
            <a:prstDash val="solid"/>
          </a:ln>
        </p:spPr>
      </p:sp>
      <p:sp>
        <p:nvSpPr>
          <p:cNvPr id="1048819" name="Text 11"/>
          <p:cNvSpPr txBox="1"/>
          <p:nvPr/>
        </p:nvSpPr>
        <p:spPr>
          <a:xfrm>
            <a:off x="548640" y="3337560"/>
            <a:ext cx="4572000" cy="365760"/>
          </a:xfrm>
          <a:prstGeom prst="rect"/>
          <a:noFill/>
        </p:spPr>
        <p:txBody>
          <a:bodyPr anchor="t" bIns="0" lIns="0" rIns="0" rtlCol="0" tIns="0" wrap="square"/>
          <a:p>
            <a:pPr indent="0" marL="0">
              <a:buNone/>
            </a:pPr>
            <a:r>
              <a:rPr b="1" dirty="0" sz="2000" lang="en-US">
                <a:solidFill>
                  <a:srgbClr val="D98E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dirty="0" sz="20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AI Pest Detector for Farms</dc:title>
  <dc:creator>Aws Idris, Wajd Almadani, Yousef Alattas</dc:creator>
  <cp:lastModifiedBy>Aws Idris, Wajd Almadani, Yousef Alattas</cp:lastModifiedBy>
  <dcterms:created xsi:type="dcterms:W3CDTF">2026-10-05T03:38:46Z</dcterms:created>
  <dcterms:modified xsi:type="dcterms:W3CDTF">2026-10-05T09:39:48Z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02fb1011dbd94eca8598d75c3529e192_23</vt:lpwstr>
  </property>
</Properties>
</file>