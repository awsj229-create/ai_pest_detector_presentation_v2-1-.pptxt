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saveSubsetFonts="1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8" r:id="rId13"/>
    <p:sldId id="269" r:id="rId14"/>
  </p:sldIdLst>
  <p:sldSz cy="5143500" cx="9144000"/>
  <p:notesSz cx="5143500" cy="9144000"/>
  <p:defaultTextStyle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tableStyles" Target="tableStyles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2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1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862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1048863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>
            <a:endParaRPr lang="en-US"/>
          </a:p>
        </p:txBody>
      </p:sp>
      <p:sp>
        <p:nvSpPr>
          <p:cNvPr id="1048864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/>
        </p:spPr>
        <p:txBody>
          <a:bodyPr bIns="45720" lIns="91440" rIns="91440" rtlCol="0" tIns="45720" vert="horz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865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866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defTabSz="914400" eaLnBrk="1" hangingPunct="1" latinLnBrk="0" marL="0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2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59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59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1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61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9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40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641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8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5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66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2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2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72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8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3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74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5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66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76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6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8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78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1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81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81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2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83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83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3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84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84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8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85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86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</p:sldLayoutIdLst>
  <p:hf dt="0" ftr="0" hdr="0" sldNum="0"/>
  <p:txStyles>
    <p:titleStyle>
      <a:lvl1pPr algn="ctr" defTabSz="9144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342900" latinLnBrk="0" marL="342900" rtl="0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85750" latinLnBrk="0" marL="742950" rtl="0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D2B"/>
        </a:solidFill>
      </p:bgPr>
    </p:bg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Shape 0"/>
          <p:cNvSpPr/>
          <p:nvPr/>
        </p:nvSpPr>
        <p:spPr>
          <a:xfrm>
            <a:off x="5577840" y="822960"/>
            <a:ext cx="3218688" cy="3218688"/>
          </a:xfrm>
          <a:prstGeom prst="ellipse"/>
          <a:solidFill>
            <a:srgbClr val="5B8C3A"/>
          </a:solidFill>
          <a:ln w="12700">
            <a:solidFill>
              <a:srgbClr val="5B8C3A"/>
            </a:solidFill>
            <a:prstDash val="solid"/>
          </a:ln>
        </p:spPr>
      </p:sp>
      <p:sp>
        <p:nvSpPr>
          <p:cNvPr id="1048577" name="Shape 1"/>
          <p:cNvSpPr/>
          <p:nvPr/>
        </p:nvSpPr>
        <p:spPr>
          <a:xfrm>
            <a:off x="5929884" y="1175004"/>
            <a:ext cx="2514600" cy="2514600"/>
          </a:xfrm>
          <a:prstGeom prst="ellipse"/>
          <a:solidFill>
            <a:srgbClr val="74A44C"/>
          </a:solidFill>
          <a:ln w="12700">
            <a:solidFill>
              <a:srgbClr val="74A44C"/>
            </a:solidFill>
            <a:prstDash val="solid"/>
          </a:ln>
        </p:spPr>
      </p:sp>
      <p:sp>
        <p:nvSpPr>
          <p:cNvPr id="1048578" name="Shape 2"/>
          <p:cNvSpPr/>
          <p:nvPr/>
        </p:nvSpPr>
        <p:spPr>
          <a:xfrm>
            <a:off x="6382512" y="1728216"/>
            <a:ext cx="502920" cy="502920"/>
          </a:xfrm>
          <a:prstGeom prst="ellipse"/>
          <a:solidFill>
            <a:srgbClr val="1F3D2B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1048579" name="Shape 3"/>
          <p:cNvSpPr/>
          <p:nvPr/>
        </p:nvSpPr>
        <p:spPr>
          <a:xfrm>
            <a:off x="7287768" y="1426464"/>
            <a:ext cx="352044" cy="352044"/>
          </a:xfrm>
          <a:prstGeom prst="ellipse"/>
          <a:solidFill>
            <a:srgbClr val="1F3D2B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1048580" name="Shape 4"/>
          <p:cNvSpPr/>
          <p:nvPr/>
        </p:nvSpPr>
        <p:spPr>
          <a:xfrm>
            <a:off x="7488936" y="2532888"/>
            <a:ext cx="553212" cy="553212"/>
          </a:xfrm>
          <a:prstGeom prst="ellipse"/>
          <a:solidFill>
            <a:srgbClr val="1F3D2B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1048581" name="Shape 5"/>
          <p:cNvSpPr/>
          <p:nvPr/>
        </p:nvSpPr>
        <p:spPr>
          <a:xfrm>
            <a:off x="6483096" y="2734056"/>
            <a:ext cx="301752" cy="301752"/>
          </a:xfrm>
          <a:prstGeom prst="ellipse"/>
          <a:solidFill>
            <a:srgbClr val="1F3D2B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1048582" name="Shape 6"/>
          <p:cNvSpPr/>
          <p:nvPr/>
        </p:nvSpPr>
        <p:spPr>
          <a:xfrm>
            <a:off x="6885432" y="2029968"/>
            <a:ext cx="221285" cy="221285"/>
          </a:xfrm>
          <a:prstGeom prst="ellipse"/>
          <a:solidFill>
            <a:srgbClr val="1F3D2B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1048583" name="Shape 7"/>
          <p:cNvSpPr/>
          <p:nvPr/>
        </p:nvSpPr>
        <p:spPr>
          <a:xfrm>
            <a:off x="7941564" y="1325880"/>
            <a:ext cx="301752" cy="301752"/>
          </a:xfrm>
          <a:prstGeom prst="ellipse"/>
          <a:solidFill>
            <a:srgbClr val="D98E2B"/>
          </a:solidFill>
          <a:ln w="12700">
            <a:solidFill>
              <a:srgbClr val="D98E2B"/>
            </a:solidFill>
            <a:prstDash val="solid"/>
          </a:ln>
        </p:spPr>
      </p:sp>
      <p:sp>
        <p:nvSpPr>
          <p:cNvPr id="1048584" name="Text 8"/>
          <p:cNvSpPr txBox="1"/>
          <p:nvPr/>
        </p:nvSpPr>
        <p:spPr>
          <a:xfrm>
            <a:off x="548640" y="502920"/>
            <a:ext cx="4572000" cy="2743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100" kern="0" lang="en-US" spc="300">
                <a:solidFill>
                  <a:srgbClr val="D98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CS3081 · ARTIFICIAL INTELLIGENCE</a:t>
            </a:r>
            <a:endParaRPr dirty="0" sz="1100" lang="en-US"/>
          </a:p>
        </p:txBody>
      </p:sp>
      <p:sp>
        <p:nvSpPr>
          <p:cNvPr id="1048585" name="Text 9"/>
          <p:cNvSpPr txBox="1"/>
          <p:nvPr/>
        </p:nvSpPr>
        <p:spPr>
          <a:xfrm>
            <a:off x="548640" y="914400"/>
            <a:ext cx="5029200" cy="15544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4000" lang="en-US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Pest Detector</a:t>
            </a:r>
            <a:endParaRPr dirty="0" sz="4000" lang="en-US"/>
          </a:p>
          <a:p>
            <a:pPr indent="0" marL="0">
              <a:buNone/>
            </a:pPr>
            <a:r>
              <a:rPr b="1" dirty="0" sz="4000" lang="en-US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Farms</a:t>
            </a:r>
            <a:endParaRPr dirty="0" sz="4000" lang="en-US"/>
          </a:p>
        </p:txBody>
      </p:sp>
      <p:sp>
        <p:nvSpPr>
          <p:cNvPr id="1048586" name="Text 10"/>
          <p:cNvSpPr txBox="1"/>
          <p:nvPr/>
        </p:nvSpPr>
        <p:spPr>
          <a:xfrm>
            <a:off x="548640" y="2514600"/>
            <a:ext cx="4572000" cy="54864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600" i="1" lang="en-US">
                <a:solidFill>
                  <a:srgbClr val="DD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search agent that finds pests fast, guided by image recognition.</a:t>
            </a:r>
            <a:endParaRPr dirty="0" sz="1600" lang="en-US"/>
          </a:p>
        </p:txBody>
      </p:sp>
      <p:sp>
        <p:nvSpPr>
          <p:cNvPr id="1048587" name="Shape 11"/>
          <p:cNvSpPr/>
          <p:nvPr/>
        </p:nvSpPr>
        <p:spPr>
          <a:xfrm>
            <a:off x="548640" y="3200400"/>
            <a:ext cx="4754880" cy="13716"/>
          </a:xfrm>
          <a:prstGeom prst="rect"/>
          <a:solidFill>
            <a:srgbClr val="5B8C3A"/>
          </a:solidFill>
          <a:ln w="12700">
            <a:solidFill>
              <a:srgbClr val="5B8C3A"/>
            </a:solidFill>
            <a:prstDash val="solid"/>
          </a:ln>
        </p:spPr>
      </p:sp>
      <p:sp>
        <p:nvSpPr>
          <p:cNvPr id="1048588" name="Text 12"/>
          <p:cNvSpPr txBox="1"/>
          <p:nvPr/>
        </p:nvSpPr>
        <p:spPr>
          <a:xfrm>
            <a:off x="548640" y="3383280"/>
            <a:ext cx="1828800" cy="2286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000" kern="0" lang="en-US" spc="300">
                <a:solidFill>
                  <a:srgbClr val="D98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dirty="0" sz="1000" lang="en-US"/>
          </a:p>
        </p:txBody>
      </p:sp>
      <p:sp>
        <p:nvSpPr>
          <p:cNvPr id="1048589" name="Text 13"/>
          <p:cNvSpPr txBox="1"/>
          <p:nvPr/>
        </p:nvSpPr>
        <p:spPr>
          <a:xfrm>
            <a:off x="548640" y="3657600"/>
            <a:ext cx="2560320" cy="8686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spcAft>
                <a:spcPts val="300"/>
              </a:spcAft>
              <a:buNone/>
            </a:pPr>
            <a:r>
              <a:rPr dirty="0" sz="14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Idris</a:t>
            </a:r>
            <a:endParaRPr dirty="0" sz="1400" lang="en-US"/>
          </a:p>
          <a:p>
            <a:pPr indent="0" marL="0">
              <a:spcAft>
                <a:spcPts val="300"/>
              </a:spcAft>
              <a:buNone/>
            </a:pPr>
            <a:r>
              <a:rPr dirty="0" sz="14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Wajd Almadani</a:t>
            </a:r>
            <a:endParaRPr dirty="0" sz="1400" lang="en-US"/>
          </a:p>
          <a:p>
            <a:pPr indent="0" marL="0">
              <a:spcAft>
                <a:spcPts val="300"/>
              </a:spcAft>
              <a:buNone/>
            </a:pPr>
            <a:r>
              <a:rPr dirty="0" sz="14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Yousef Alattas</a:t>
            </a:r>
            <a:endParaRPr dirty="0" sz="1400" lang="en-US"/>
          </a:p>
        </p:txBody>
      </p:sp>
      <p:sp>
        <p:nvSpPr>
          <p:cNvPr id="1048590" name="Text 14"/>
          <p:cNvSpPr txBox="1"/>
          <p:nvPr/>
        </p:nvSpPr>
        <p:spPr>
          <a:xfrm>
            <a:off x="3291840" y="3383280"/>
            <a:ext cx="2011680" cy="2286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000" kern="0" lang="en-US" spc="300">
                <a:solidFill>
                  <a:srgbClr val="D98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</a:t>
            </a:r>
            <a:endParaRPr dirty="0" sz="1000" lang="en-US"/>
          </a:p>
        </p:txBody>
      </p:sp>
      <p:sp>
        <p:nvSpPr>
          <p:cNvPr id="1048591" name="Text 15"/>
          <p:cNvSpPr txBox="1"/>
          <p:nvPr/>
        </p:nvSpPr>
        <p:spPr>
          <a:xfrm>
            <a:off x="3291840" y="3657600"/>
            <a:ext cx="2194560" cy="2743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 Naila</a:t>
            </a:r>
            <a:endParaRPr dirty="0" sz="1400"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1E4"/>
        </a:solidFill>
      </p:bgPr>
    </p:bg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5" name="Text 0"/>
          <p:cNvSpPr txBox="1"/>
          <p:nvPr/>
        </p:nvSpPr>
        <p:spPr>
          <a:xfrm>
            <a:off x="548640" y="347472"/>
            <a:ext cx="4572000" cy="2286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100" kern="0" lang="en-US" spc="300">
                <a:solidFill>
                  <a:srgbClr val="D98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THE PROBLEM</a:t>
            </a:r>
            <a:endParaRPr dirty="0" sz="1100" lang="en-US"/>
          </a:p>
        </p:txBody>
      </p:sp>
      <p:sp>
        <p:nvSpPr>
          <p:cNvPr id="1048596" name="Text 1"/>
          <p:cNvSpPr txBox="1"/>
          <p:nvPr/>
        </p:nvSpPr>
        <p:spPr>
          <a:xfrm>
            <a:off x="548640" y="594360"/>
            <a:ext cx="8046720" cy="6400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3000" lang="en-US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Pests are found too late</a:t>
            </a:r>
            <a:endParaRPr dirty="0" sz="3000" lang="en-US"/>
          </a:p>
        </p:txBody>
      </p:sp>
      <p:sp>
        <p:nvSpPr>
          <p:cNvPr id="1048597" name="Shape 2"/>
          <p:cNvSpPr/>
          <p:nvPr/>
        </p:nvSpPr>
        <p:spPr>
          <a:xfrm>
            <a:off x="548640" y="1280160"/>
            <a:ext cx="640080" cy="45720"/>
          </a:xfrm>
          <a:prstGeom prst="rect"/>
          <a:solidFill>
            <a:srgbClr val="D98E2B"/>
          </a:solidFill>
          <a:ln w="12700">
            <a:solidFill>
              <a:srgbClr val="D98E2B"/>
            </a:solidFill>
            <a:prstDash val="solid"/>
          </a:ln>
        </p:spPr>
      </p:sp>
      <p:sp>
        <p:nvSpPr>
          <p:cNvPr id="1048598" name="Text 3"/>
          <p:cNvSpPr txBox="1"/>
          <p:nvPr/>
        </p:nvSpPr>
        <p:spPr>
          <a:xfrm>
            <a:off x="8138160" y="4663440"/>
            <a:ext cx="457200" cy="228600"/>
          </a:xfrm>
          <a:prstGeom prst="rect"/>
          <a:noFill/>
        </p:spPr>
        <p:txBody>
          <a:bodyPr anchor="t" bIns="0" lIns="0" rIns="0" rtlCol="0" tIns="0" wrap="square"/>
          <a:p>
            <a:pPr algn="r" indent="0" marL="0">
              <a:buNone/>
            </a:pPr>
            <a:r>
              <a:rPr dirty="0" sz="1100" lang="en-US">
                <a:solidFill>
                  <a:srgbClr val="6B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dirty="0" sz="1100" lang="en-US"/>
          </a:p>
        </p:txBody>
      </p:sp>
      <p:sp>
        <p:nvSpPr>
          <p:cNvPr id="1048599" name="Text 4"/>
          <p:cNvSpPr txBox="1"/>
          <p:nvPr/>
        </p:nvSpPr>
        <p:spPr>
          <a:xfrm>
            <a:off x="548640" y="1600200"/>
            <a:ext cx="822960" cy="6400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3400" lang="en-US">
                <a:solidFill>
                  <a:srgbClr val="5B8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dirty="0" sz="3400" lang="en-US"/>
          </a:p>
        </p:txBody>
      </p:sp>
      <p:sp>
        <p:nvSpPr>
          <p:cNvPr id="1048600" name="Text 5"/>
          <p:cNvSpPr txBox="1"/>
          <p:nvPr/>
        </p:nvSpPr>
        <p:spPr>
          <a:xfrm>
            <a:off x="1371600" y="1618488"/>
            <a:ext cx="4206240" cy="2743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700" lang="en-US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Farms are big</a:t>
            </a:r>
            <a:endParaRPr dirty="0" sz="1700" lang="en-US"/>
          </a:p>
        </p:txBody>
      </p:sp>
      <p:sp>
        <p:nvSpPr>
          <p:cNvPr id="1048601" name="Text 6"/>
          <p:cNvSpPr txBox="1"/>
          <p:nvPr/>
        </p:nvSpPr>
        <p:spPr>
          <a:xfrm>
            <a:off x="1371600" y="1965960"/>
            <a:ext cx="4206240" cy="54864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300" lang="en-US">
                <a:solidFill>
                  <a:srgbClr val="6B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farm has thousands of plants, and checking each one is slow.</a:t>
            </a:r>
            <a:endParaRPr dirty="0" sz="1300" lang="en-US"/>
          </a:p>
        </p:txBody>
      </p:sp>
      <p:sp>
        <p:nvSpPr>
          <p:cNvPr id="1048602" name="Shape 7"/>
          <p:cNvSpPr/>
          <p:nvPr/>
        </p:nvSpPr>
        <p:spPr>
          <a:xfrm>
            <a:off x="548640" y="2487168"/>
            <a:ext cx="5029200" cy="10973"/>
          </a:xfrm>
          <a:prstGeom prst="rect"/>
          <a:solidFill>
            <a:srgbClr val="D9D2BD"/>
          </a:solidFill>
          <a:ln w="12700">
            <a:solidFill>
              <a:srgbClr val="D9D2BD"/>
            </a:solidFill>
            <a:prstDash val="solid"/>
          </a:ln>
        </p:spPr>
      </p:sp>
      <p:sp>
        <p:nvSpPr>
          <p:cNvPr id="1048603" name="Text 8"/>
          <p:cNvSpPr txBox="1"/>
          <p:nvPr/>
        </p:nvSpPr>
        <p:spPr>
          <a:xfrm>
            <a:off x="548640" y="2606040"/>
            <a:ext cx="822960" cy="6400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3400" lang="en-US">
                <a:solidFill>
                  <a:srgbClr val="5B8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dirty="0" sz="3400" lang="en-US"/>
          </a:p>
        </p:txBody>
      </p:sp>
      <p:sp>
        <p:nvSpPr>
          <p:cNvPr id="1048604" name="Text 9"/>
          <p:cNvSpPr txBox="1"/>
          <p:nvPr/>
        </p:nvSpPr>
        <p:spPr>
          <a:xfrm>
            <a:off x="1371600" y="2624328"/>
            <a:ext cx="4206240" cy="2743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700" lang="en-US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Signs are subtle</a:t>
            </a:r>
            <a:endParaRPr dirty="0" sz="1700" lang="en-US"/>
          </a:p>
        </p:txBody>
      </p:sp>
      <p:sp>
        <p:nvSpPr>
          <p:cNvPr id="1048605" name="Text 10"/>
          <p:cNvSpPr txBox="1"/>
          <p:nvPr/>
        </p:nvSpPr>
        <p:spPr>
          <a:xfrm>
            <a:off x="1371600" y="2971800"/>
            <a:ext cx="4206240" cy="54864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300" lang="en-US">
                <a:solidFill>
                  <a:srgbClr val="6B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damage is small and easy to miss.</a:t>
            </a:r>
            <a:endParaRPr dirty="0" sz="1300" lang="en-US"/>
          </a:p>
        </p:txBody>
      </p:sp>
      <p:sp>
        <p:nvSpPr>
          <p:cNvPr id="1048606" name="Shape 11"/>
          <p:cNvSpPr/>
          <p:nvPr/>
        </p:nvSpPr>
        <p:spPr>
          <a:xfrm>
            <a:off x="548640" y="3493008"/>
            <a:ext cx="5029200" cy="10973"/>
          </a:xfrm>
          <a:prstGeom prst="rect"/>
          <a:solidFill>
            <a:srgbClr val="D9D2BD"/>
          </a:solidFill>
          <a:ln w="12700">
            <a:solidFill>
              <a:srgbClr val="D9D2BD"/>
            </a:solidFill>
            <a:prstDash val="solid"/>
          </a:ln>
        </p:spPr>
      </p:sp>
      <p:sp>
        <p:nvSpPr>
          <p:cNvPr id="1048607" name="Text 12"/>
          <p:cNvSpPr txBox="1"/>
          <p:nvPr/>
        </p:nvSpPr>
        <p:spPr>
          <a:xfrm>
            <a:off x="548640" y="3611880"/>
            <a:ext cx="822960" cy="6400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3400" lang="en-US">
                <a:solidFill>
                  <a:srgbClr val="5B8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dirty="0" sz="3400" lang="en-US"/>
          </a:p>
        </p:txBody>
      </p:sp>
      <p:sp>
        <p:nvSpPr>
          <p:cNvPr id="1048608" name="Text 13"/>
          <p:cNvSpPr txBox="1"/>
          <p:nvPr/>
        </p:nvSpPr>
        <p:spPr>
          <a:xfrm>
            <a:off x="1371600" y="3630168"/>
            <a:ext cx="4206240" cy="2743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700" lang="en-US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 is limited</a:t>
            </a:r>
            <a:endParaRPr dirty="0" sz="1700" lang="en-US"/>
          </a:p>
        </p:txBody>
      </p:sp>
      <p:sp>
        <p:nvSpPr>
          <p:cNvPr id="1048609" name="Text 14"/>
          <p:cNvSpPr txBox="1"/>
          <p:nvPr/>
        </p:nvSpPr>
        <p:spPr>
          <a:xfrm>
            <a:off x="1371600" y="3977640"/>
            <a:ext cx="4206240" cy="54864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300" lang="en-US">
                <a:solidFill>
                  <a:srgbClr val="6B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longer a pest goes unfound, the more it spreads.</a:t>
            </a:r>
            <a:endParaRPr dirty="0" sz="1300" lang="en-US"/>
          </a:p>
        </p:txBody>
      </p:sp>
      <p:sp>
        <p:nvSpPr>
          <p:cNvPr id="1048610" name="Shape 15"/>
          <p:cNvSpPr/>
          <p:nvPr/>
        </p:nvSpPr>
        <p:spPr>
          <a:xfrm>
            <a:off x="6035040" y="1645920"/>
            <a:ext cx="2560320" cy="2834640"/>
          </a:xfrm>
          <a:prstGeom prst="roundRect">
            <a:avLst>
              <a:gd name="adj" fmla="val 2857"/>
            </a:avLst>
          </a:prstGeom>
          <a:solidFill>
            <a:srgbClr val="1F3D2B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1048611" name="Text 16"/>
          <p:cNvSpPr txBox="1"/>
          <p:nvPr/>
        </p:nvSpPr>
        <p:spPr>
          <a:xfrm>
            <a:off x="6309360" y="1920240"/>
            <a:ext cx="2011680" cy="2286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000" kern="0" lang="en-US" spc="300">
                <a:solidFill>
                  <a:srgbClr val="D98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QUESTION</a:t>
            </a:r>
            <a:endParaRPr dirty="0" sz="1000" lang="en-US"/>
          </a:p>
        </p:txBody>
      </p:sp>
      <p:sp>
        <p:nvSpPr>
          <p:cNvPr id="1048612" name="Text 17"/>
          <p:cNvSpPr txBox="1"/>
          <p:nvPr/>
        </p:nvSpPr>
        <p:spPr>
          <a:xfrm>
            <a:off x="6309360" y="2286000"/>
            <a:ext cx="2011680" cy="20116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900" i="1" lang="en-US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should we check next to find pests with the fewest checks?</a:t>
            </a:r>
            <a:endParaRPr dirty="0" sz="1900"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1E4"/>
        </a:solidFill>
      </p:bgPr>
    </p:bg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6" name="Text 0"/>
          <p:cNvSpPr txBox="1"/>
          <p:nvPr/>
        </p:nvSpPr>
        <p:spPr>
          <a:xfrm>
            <a:off x="548640" y="347472"/>
            <a:ext cx="4572000" cy="2286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100" kern="0" lang="en-US" spc="300">
                <a:solidFill>
                  <a:srgbClr val="D98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THE IDEA</a:t>
            </a:r>
            <a:endParaRPr dirty="0" sz="1100" lang="en-US"/>
          </a:p>
        </p:txBody>
      </p:sp>
      <p:sp>
        <p:nvSpPr>
          <p:cNvPr id="1048617" name="Text 1"/>
          <p:cNvSpPr txBox="1"/>
          <p:nvPr/>
        </p:nvSpPr>
        <p:spPr>
          <a:xfrm>
            <a:off x="548640" y="594360"/>
            <a:ext cx="8046720" cy="6400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3000" lang="en-US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scout that searches the farm</a:t>
            </a:r>
            <a:endParaRPr dirty="0" sz="3000" lang="en-US"/>
          </a:p>
        </p:txBody>
      </p:sp>
      <p:sp>
        <p:nvSpPr>
          <p:cNvPr id="1048618" name="Shape 2"/>
          <p:cNvSpPr/>
          <p:nvPr/>
        </p:nvSpPr>
        <p:spPr>
          <a:xfrm>
            <a:off x="548640" y="1280160"/>
            <a:ext cx="640080" cy="45720"/>
          </a:xfrm>
          <a:prstGeom prst="rect"/>
          <a:solidFill>
            <a:srgbClr val="D98E2B"/>
          </a:solidFill>
          <a:ln w="12700">
            <a:solidFill>
              <a:srgbClr val="D98E2B"/>
            </a:solidFill>
            <a:prstDash val="solid"/>
          </a:ln>
        </p:spPr>
      </p:sp>
      <p:sp>
        <p:nvSpPr>
          <p:cNvPr id="1048619" name="Text 3"/>
          <p:cNvSpPr txBox="1"/>
          <p:nvPr/>
        </p:nvSpPr>
        <p:spPr>
          <a:xfrm>
            <a:off x="8138160" y="4663440"/>
            <a:ext cx="457200" cy="228600"/>
          </a:xfrm>
          <a:prstGeom prst="rect"/>
          <a:noFill/>
        </p:spPr>
        <p:txBody>
          <a:bodyPr anchor="t" bIns="0" lIns="0" rIns="0" rtlCol="0" tIns="0" wrap="square"/>
          <a:p>
            <a:pPr algn="r" indent="0" marL="0">
              <a:buNone/>
            </a:pPr>
            <a:r>
              <a:rPr dirty="0" sz="1100" lang="en-US">
                <a:solidFill>
                  <a:srgbClr val="6B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dirty="0" sz="1100" lang="en-US"/>
          </a:p>
        </p:txBody>
      </p:sp>
      <p:sp>
        <p:nvSpPr>
          <p:cNvPr id="1048620" name="Shape 4"/>
          <p:cNvSpPr/>
          <p:nvPr/>
        </p:nvSpPr>
        <p:spPr>
          <a:xfrm>
            <a:off x="1463040" y="2057400"/>
            <a:ext cx="6217920" cy="27432"/>
          </a:xfrm>
          <a:prstGeom prst="rect"/>
          <a:solidFill>
            <a:srgbClr val="D9D2BD"/>
          </a:solidFill>
          <a:ln w="12700">
            <a:solidFill>
              <a:srgbClr val="D9D2BD"/>
            </a:solidFill>
            <a:prstDash val="solid"/>
          </a:ln>
        </p:spPr>
      </p:sp>
      <p:sp>
        <p:nvSpPr>
          <p:cNvPr id="1048621" name="Shape 5"/>
          <p:cNvSpPr/>
          <p:nvPr/>
        </p:nvSpPr>
        <p:spPr>
          <a:xfrm>
            <a:off x="822960" y="1691640"/>
            <a:ext cx="1737360" cy="777240"/>
          </a:xfrm>
          <a:prstGeom prst="roundRect">
            <a:avLst>
              <a:gd name="adj" fmla="val 11765"/>
            </a:avLst>
          </a:prstGeom>
          <a:solidFill>
            <a:srgbClr val="5B8C3A"/>
          </a:solidFill>
          <a:ln w="12700">
            <a:solidFill>
              <a:srgbClr val="5B8C3A"/>
            </a:solidFill>
            <a:prstDash val="solid"/>
          </a:ln>
        </p:spPr>
      </p:sp>
      <p:sp>
        <p:nvSpPr>
          <p:cNvPr id="1048622" name="Text 6"/>
          <p:cNvSpPr txBox="1"/>
          <p:nvPr/>
        </p:nvSpPr>
        <p:spPr>
          <a:xfrm>
            <a:off x="822960" y="1691640"/>
            <a:ext cx="1737360" cy="77724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700" lang="en-US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Farm grid</a:t>
            </a:r>
            <a:endParaRPr dirty="0" sz="1700" lang="en-US"/>
          </a:p>
        </p:txBody>
      </p:sp>
      <p:sp>
        <p:nvSpPr>
          <p:cNvPr id="1048623" name="Text 7"/>
          <p:cNvSpPr txBox="1"/>
          <p:nvPr/>
        </p:nvSpPr>
        <p:spPr>
          <a:xfrm>
            <a:off x="640080" y="2560320"/>
            <a:ext cx="2103120" cy="274320"/>
          </a:xfrm>
          <a:prstGeom prst="rect"/>
          <a:noFill/>
        </p:spPr>
        <p:txBody>
          <a:bodyPr anchor="t" bIns="0" lIns="0" rIns="0" rtlCol="0" tIns="0" wrap="square"/>
          <a:p>
            <a:pPr algn="ctr" indent="0" marL="0">
              <a:buNone/>
            </a:pPr>
            <a:r>
              <a:rPr dirty="0" sz="1200" lang="en-US">
                <a:solidFill>
                  <a:srgbClr val="6B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cell is a plant</a:t>
            </a:r>
            <a:endParaRPr dirty="0" sz="1200" lang="en-US"/>
          </a:p>
        </p:txBody>
      </p:sp>
      <p:sp>
        <p:nvSpPr>
          <p:cNvPr id="1048624" name="Shape 8"/>
          <p:cNvSpPr/>
          <p:nvPr/>
        </p:nvSpPr>
        <p:spPr>
          <a:xfrm>
            <a:off x="3611880" y="1691640"/>
            <a:ext cx="1737360" cy="777240"/>
          </a:xfrm>
          <a:prstGeom prst="roundRect">
            <a:avLst>
              <a:gd name="adj" fmla="val 11765"/>
            </a:avLst>
          </a:prstGeom>
          <a:solidFill>
            <a:srgbClr val="1F3D2B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1048625" name="Text 9"/>
          <p:cNvSpPr txBox="1"/>
          <p:nvPr/>
        </p:nvSpPr>
        <p:spPr>
          <a:xfrm>
            <a:off x="3611880" y="1691640"/>
            <a:ext cx="1737360" cy="77724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700" lang="en-US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Scout agent</a:t>
            </a:r>
            <a:endParaRPr dirty="0" sz="1700" lang="en-US"/>
          </a:p>
        </p:txBody>
      </p:sp>
      <p:sp>
        <p:nvSpPr>
          <p:cNvPr id="1048626" name="Text 10"/>
          <p:cNvSpPr txBox="1"/>
          <p:nvPr/>
        </p:nvSpPr>
        <p:spPr>
          <a:xfrm>
            <a:off x="3429000" y="2560320"/>
            <a:ext cx="2103120" cy="274320"/>
          </a:xfrm>
          <a:prstGeom prst="rect"/>
          <a:noFill/>
        </p:spPr>
        <p:txBody>
          <a:bodyPr anchor="t" bIns="0" lIns="0" rIns="0" rtlCol="0" tIns="0" wrap="square"/>
          <a:p>
            <a:pPr algn="ctr" indent="0" marL="0">
              <a:buNone/>
            </a:pPr>
            <a:r>
              <a:rPr dirty="0" sz="1200" lang="en-US">
                <a:solidFill>
                  <a:srgbClr val="6B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where to check next</a:t>
            </a:r>
            <a:endParaRPr dirty="0" sz="1200" lang="en-US"/>
          </a:p>
        </p:txBody>
      </p:sp>
      <p:sp>
        <p:nvSpPr>
          <p:cNvPr id="1048627" name="Shape 11"/>
          <p:cNvSpPr/>
          <p:nvPr/>
        </p:nvSpPr>
        <p:spPr>
          <a:xfrm>
            <a:off x="6400800" y="1691640"/>
            <a:ext cx="1737360" cy="777240"/>
          </a:xfrm>
          <a:prstGeom prst="roundRect">
            <a:avLst>
              <a:gd name="adj" fmla="val 11765"/>
            </a:avLst>
          </a:prstGeom>
          <a:solidFill>
            <a:srgbClr val="D98E2B"/>
          </a:solidFill>
          <a:ln w="12700">
            <a:solidFill>
              <a:srgbClr val="D98E2B"/>
            </a:solidFill>
            <a:prstDash val="solid"/>
          </a:ln>
        </p:spPr>
      </p:sp>
      <p:sp>
        <p:nvSpPr>
          <p:cNvPr id="1048628" name="Text 12"/>
          <p:cNvSpPr txBox="1"/>
          <p:nvPr/>
        </p:nvSpPr>
        <p:spPr>
          <a:xfrm>
            <a:off x="6400800" y="1691640"/>
            <a:ext cx="1737360" cy="77724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700" lang="en-US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Pest found</a:t>
            </a:r>
            <a:endParaRPr dirty="0" sz="1700" lang="en-US"/>
          </a:p>
        </p:txBody>
      </p:sp>
      <p:sp>
        <p:nvSpPr>
          <p:cNvPr id="1048629" name="Text 13"/>
          <p:cNvSpPr txBox="1"/>
          <p:nvPr/>
        </p:nvSpPr>
        <p:spPr>
          <a:xfrm>
            <a:off x="6217920" y="2560320"/>
            <a:ext cx="2103120" cy="274320"/>
          </a:xfrm>
          <a:prstGeom prst="rect"/>
          <a:noFill/>
        </p:spPr>
        <p:txBody>
          <a:bodyPr anchor="t" bIns="0" lIns="0" rIns="0" rtlCol="0" tIns="0" wrap="square"/>
          <a:p>
            <a:pPr algn="ctr" indent="0" marL="0">
              <a:buNone/>
            </a:pPr>
            <a:r>
              <a:rPr dirty="0" sz="1200" lang="en-US">
                <a:solidFill>
                  <a:srgbClr val="6B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as few steps as possible</a:t>
            </a:r>
            <a:endParaRPr dirty="0" sz="1200" lang="en-US"/>
          </a:p>
        </p:txBody>
      </p:sp>
      <p:sp>
        <p:nvSpPr>
          <p:cNvPr id="1048630" name="Shape 14"/>
          <p:cNvSpPr/>
          <p:nvPr/>
        </p:nvSpPr>
        <p:spPr>
          <a:xfrm>
            <a:off x="548640" y="3200400"/>
            <a:ext cx="2468880" cy="36576"/>
          </a:xfrm>
          <a:prstGeom prst="rect"/>
          <a:solidFill>
            <a:srgbClr val="5B8C3A"/>
          </a:solidFill>
          <a:ln w="12700">
            <a:solidFill>
              <a:srgbClr val="5B8C3A"/>
            </a:solidFill>
            <a:prstDash val="solid"/>
          </a:ln>
        </p:spPr>
      </p:sp>
      <p:sp>
        <p:nvSpPr>
          <p:cNvPr id="1048631" name="Text 15"/>
          <p:cNvSpPr txBox="1"/>
          <p:nvPr/>
        </p:nvSpPr>
        <p:spPr>
          <a:xfrm>
            <a:off x="548640" y="3383280"/>
            <a:ext cx="2468880" cy="2743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500" lang="en-US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Search is the core</a:t>
            </a:r>
            <a:endParaRPr dirty="0" sz="1500" lang="en-US"/>
          </a:p>
        </p:txBody>
      </p:sp>
      <p:sp>
        <p:nvSpPr>
          <p:cNvPr id="1048632" name="Text 16"/>
          <p:cNvSpPr txBox="1"/>
          <p:nvPr/>
        </p:nvSpPr>
        <p:spPr>
          <a:xfrm>
            <a:off x="548640" y="3703320"/>
            <a:ext cx="2468880" cy="8229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250" lang="en-US">
                <a:solidFill>
                  <a:srgbClr val="6B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uses search algorithms to choose its path.</a:t>
            </a:r>
            <a:endParaRPr dirty="0" sz="1250" lang="en-US"/>
          </a:p>
        </p:txBody>
      </p:sp>
      <p:sp>
        <p:nvSpPr>
          <p:cNvPr id="1048633" name="Shape 17"/>
          <p:cNvSpPr/>
          <p:nvPr/>
        </p:nvSpPr>
        <p:spPr>
          <a:xfrm>
            <a:off x="3337560" y="3200400"/>
            <a:ext cx="2468880" cy="36576"/>
          </a:xfrm>
          <a:prstGeom prst="rect"/>
          <a:solidFill>
            <a:srgbClr val="5B8C3A"/>
          </a:solidFill>
          <a:ln w="12700">
            <a:solidFill>
              <a:srgbClr val="5B8C3A"/>
            </a:solidFill>
            <a:prstDash val="solid"/>
          </a:ln>
        </p:spPr>
      </p:sp>
      <p:sp>
        <p:nvSpPr>
          <p:cNvPr id="1048634" name="Text 18"/>
          <p:cNvSpPr txBox="1"/>
          <p:nvPr/>
        </p:nvSpPr>
        <p:spPr>
          <a:xfrm>
            <a:off x="3337560" y="3383280"/>
            <a:ext cx="2468880" cy="2743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500" lang="en-US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is the eyes</a:t>
            </a:r>
            <a:endParaRPr dirty="0" sz="1500" lang="en-US"/>
          </a:p>
        </p:txBody>
      </p:sp>
      <p:sp>
        <p:nvSpPr>
          <p:cNvPr id="1048635" name="Text 19"/>
          <p:cNvSpPr txBox="1"/>
          <p:nvPr/>
        </p:nvSpPr>
        <p:spPr>
          <a:xfrm>
            <a:off x="3337560" y="3703320"/>
            <a:ext cx="2468880" cy="8229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250" lang="en-US">
                <a:solidFill>
                  <a:srgbClr val="6B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each plant, an image classifier says pest or healthy.</a:t>
            </a:r>
            <a:endParaRPr dirty="0" sz="1250" lang="en-US"/>
          </a:p>
        </p:txBody>
      </p:sp>
      <p:sp>
        <p:nvSpPr>
          <p:cNvPr id="1048636" name="Shape 20"/>
          <p:cNvSpPr/>
          <p:nvPr/>
        </p:nvSpPr>
        <p:spPr>
          <a:xfrm>
            <a:off x="6126480" y="3200400"/>
            <a:ext cx="2468880" cy="36576"/>
          </a:xfrm>
          <a:prstGeom prst="rect"/>
          <a:solidFill>
            <a:srgbClr val="5B8C3A"/>
          </a:solidFill>
          <a:ln w="12700">
            <a:solidFill>
              <a:srgbClr val="5B8C3A"/>
            </a:solidFill>
            <a:prstDash val="solid"/>
          </a:ln>
        </p:spPr>
      </p:sp>
      <p:sp>
        <p:nvSpPr>
          <p:cNvPr id="1048637" name="Text 21"/>
          <p:cNvSpPr txBox="1"/>
          <p:nvPr/>
        </p:nvSpPr>
        <p:spPr>
          <a:xfrm>
            <a:off x="6126480" y="3383280"/>
            <a:ext cx="2468880" cy="2743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500" lang="en-US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Compare algorithms</a:t>
            </a:r>
            <a:endParaRPr dirty="0" sz="1500" lang="en-US"/>
          </a:p>
        </p:txBody>
      </p:sp>
      <p:sp>
        <p:nvSpPr>
          <p:cNvPr id="1048638" name="Text 22"/>
          <p:cNvSpPr txBox="1"/>
          <p:nvPr/>
        </p:nvSpPr>
        <p:spPr>
          <a:xfrm>
            <a:off x="6126480" y="3703320"/>
            <a:ext cx="2468880" cy="8229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250" lang="en-US">
                <a:solidFill>
                  <a:srgbClr val="6B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BFS, DFS, Greedy and A* run on the same farm.</a:t>
            </a:r>
            <a:endParaRPr dirty="0" sz="1250"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1E4"/>
        </a:solidFill>
      </p:bgPr>
    </p:bg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Text 0"/>
          <p:cNvSpPr txBox="1"/>
          <p:nvPr/>
        </p:nvSpPr>
        <p:spPr>
          <a:xfrm>
            <a:off x="548640" y="347472"/>
            <a:ext cx="4572000" cy="2286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100" kern="0" lang="en-US" spc="300">
                <a:solidFill>
                  <a:srgbClr val="D98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THE SEARCH PROBLEM</a:t>
            </a:r>
            <a:endParaRPr dirty="0" sz="1100" lang="en-US"/>
          </a:p>
        </p:txBody>
      </p:sp>
      <p:sp>
        <p:nvSpPr>
          <p:cNvPr id="1048643" name="Text 1"/>
          <p:cNvSpPr txBox="1"/>
          <p:nvPr/>
        </p:nvSpPr>
        <p:spPr>
          <a:xfrm>
            <a:off x="548640" y="594360"/>
            <a:ext cx="8046720" cy="6400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3000" lang="en-US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Defining the problem</a:t>
            </a:r>
            <a:endParaRPr dirty="0" sz="3000" lang="en-US"/>
          </a:p>
        </p:txBody>
      </p:sp>
      <p:sp>
        <p:nvSpPr>
          <p:cNvPr id="1048644" name="Shape 2"/>
          <p:cNvSpPr/>
          <p:nvPr/>
        </p:nvSpPr>
        <p:spPr>
          <a:xfrm>
            <a:off x="548640" y="1280160"/>
            <a:ext cx="640080" cy="45720"/>
          </a:xfrm>
          <a:prstGeom prst="rect"/>
          <a:solidFill>
            <a:srgbClr val="D98E2B"/>
          </a:solidFill>
          <a:ln w="12700">
            <a:solidFill>
              <a:srgbClr val="D98E2B"/>
            </a:solidFill>
            <a:prstDash val="solid"/>
          </a:ln>
        </p:spPr>
      </p:sp>
      <p:sp>
        <p:nvSpPr>
          <p:cNvPr id="1048645" name="Text 3"/>
          <p:cNvSpPr txBox="1"/>
          <p:nvPr/>
        </p:nvSpPr>
        <p:spPr>
          <a:xfrm>
            <a:off x="8138160" y="4663440"/>
            <a:ext cx="457200" cy="228600"/>
          </a:xfrm>
          <a:prstGeom prst="rect"/>
          <a:noFill/>
        </p:spPr>
        <p:txBody>
          <a:bodyPr anchor="t" bIns="0" lIns="0" rIns="0" rtlCol="0" tIns="0" wrap="square"/>
          <a:p>
            <a:pPr algn="r" indent="0" marL="0">
              <a:buNone/>
            </a:pPr>
            <a:r>
              <a:rPr dirty="0" sz="1100" lang="en-US">
                <a:solidFill>
                  <a:srgbClr val="6B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dirty="0" sz="1100" lang="en-US"/>
          </a:p>
        </p:txBody>
      </p:sp>
      <p:sp>
        <p:nvSpPr>
          <p:cNvPr id="1048646" name="Text 4"/>
          <p:cNvSpPr txBox="1"/>
          <p:nvPr/>
        </p:nvSpPr>
        <p:spPr>
          <a:xfrm>
            <a:off x="548640" y="1645920"/>
            <a:ext cx="822960" cy="6400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3400" lang="en-US">
                <a:solidFill>
                  <a:srgbClr val="5B8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dirty="0" sz="3400" lang="en-US"/>
          </a:p>
        </p:txBody>
      </p:sp>
      <p:sp>
        <p:nvSpPr>
          <p:cNvPr id="1048647" name="Text 5"/>
          <p:cNvSpPr txBox="1"/>
          <p:nvPr/>
        </p:nvSpPr>
        <p:spPr>
          <a:xfrm>
            <a:off x="1417320" y="1691640"/>
            <a:ext cx="2926080" cy="2743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600" lang="en-US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</a:t>
            </a:r>
            <a:endParaRPr dirty="0" sz="1600" lang="en-US"/>
          </a:p>
        </p:txBody>
      </p:sp>
      <p:sp>
        <p:nvSpPr>
          <p:cNvPr id="1048648" name="Text 6"/>
          <p:cNvSpPr txBox="1"/>
          <p:nvPr/>
        </p:nvSpPr>
        <p:spPr>
          <a:xfrm>
            <a:off x="1417320" y="2057400"/>
            <a:ext cx="2926080" cy="8229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300" lang="en-US">
                <a:solidFill>
                  <a:srgbClr val="6B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scout is, plus what it has checked so far.</a:t>
            </a:r>
            <a:endParaRPr dirty="0" sz="1300" lang="en-US"/>
          </a:p>
        </p:txBody>
      </p:sp>
      <p:sp>
        <p:nvSpPr>
          <p:cNvPr id="1048649" name="Text 7"/>
          <p:cNvSpPr txBox="1"/>
          <p:nvPr/>
        </p:nvSpPr>
        <p:spPr>
          <a:xfrm>
            <a:off x="4663440" y="1645920"/>
            <a:ext cx="822960" cy="6400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3400" lang="en-US">
                <a:solidFill>
                  <a:srgbClr val="5B8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dirty="0" sz="3400" lang="en-US"/>
          </a:p>
        </p:txBody>
      </p:sp>
      <p:sp>
        <p:nvSpPr>
          <p:cNvPr id="1048650" name="Text 8"/>
          <p:cNvSpPr txBox="1"/>
          <p:nvPr/>
        </p:nvSpPr>
        <p:spPr>
          <a:xfrm>
            <a:off x="5532120" y="1691640"/>
            <a:ext cx="2926080" cy="2743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600" lang="en-US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Actions</a:t>
            </a:r>
            <a:endParaRPr dirty="0" sz="1600" lang="en-US"/>
          </a:p>
        </p:txBody>
      </p:sp>
      <p:sp>
        <p:nvSpPr>
          <p:cNvPr id="1048651" name="Text 9"/>
          <p:cNvSpPr txBox="1"/>
          <p:nvPr/>
        </p:nvSpPr>
        <p:spPr>
          <a:xfrm>
            <a:off x="5532120" y="2057400"/>
            <a:ext cx="2926080" cy="8229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300" lang="en-US">
                <a:solidFill>
                  <a:srgbClr val="6B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up, down, left or right, then check the plant.</a:t>
            </a:r>
            <a:endParaRPr dirty="0" sz="1300" lang="en-US"/>
          </a:p>
        </p:txBody>
      </p:sp>
      <p:sp>
        <p:nvSpPr>
          <p:cNvPr id="1048652" name="Text 10"/>
          <p:cNvSpPr txBox="1"/>
          <p:nvPr/>
        </p:nvSpPr>
        <p:spPr>
          <a:xfrm>
            <a:off x="548640" y="3200400"/>
            <a:ext cx="822960" cy="6400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3400" lang="en-US">
                <a:solidFill>
                  <a:srgbClr val="5B8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dirty="0" sz="3400" lang="en-US"/>
          </a:p>
        </p:txBody>
      </p:sp>
      <p:sp>
        <p:nvSpPr>
          <p:cNvPr id="1048653" name="Text 11"/>
          <p:cNvSpPr txBox="1"/>
          <p:nvPr/>
        </p:nvSpPr>
        <p:spPr>
          <a:xfrm>
            <a:off x="1417320" y="3246120"/>
            <a:ext cx="2926080" cy="2743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600" lang="en-US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dirty="0" sz="1600" lang="en-US"/>
          </a:p>
        </p:txBody>
      </p:sp>
      <p:sp>
        <p:nvSpPr>
          <p:cNvPr id="1048654" name="Text 12"/>
          <p:cNvSpPr txBox="1"/>
          <p:nvPr/>
        </p:nvSpPr>
        <p:spPr>
          <a:xfrm>
            <a:off x="1417320" y="3611880"/>
            <a:ext cx="2926080" cy="8229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300" lang="en-US">
                <a:solidFill>
                  <a:srgbClr val="6B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 pest, or as many pests as possible within the limit.</a:t>
            </a:r>
            <a:endParaRPr dirty="0" sz="1300" lang="en-US"/>
          </a:p>
        </p:txBody>
      </p:sp>
      <p:sp>
        <p:nvSpPr>
          <p:cNvPr id="1048655" name="Text 13"/>
          <p:cNvSpPr txBox="1"/>
          <p:nvPr/>
        </p:nvSpPr>
        <p:spPr>
          <a:xfrm>
            <a:off x="4663440" y="3200400"/>
            <a:ext cx="822960" cy="6400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3400" lang="en-US">
                <a:solidFill>
                  <a:srgbClr val="5B8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dirty="0" sz="3400" lang="en-US"/>
          </a:p>
        </p:txBody>
      </p:sp>
      <p:sp>
        <p:nvSpPr>
          <p:cNvPr id="1048656" name="Text 14"/>
          <p:cNvSpPr txBox="1"/>
          <p:nvPr/>
        </p:nvSpPr>
        <p:spPr>
          <a:xfrm>
            <a:off x="5532120" y="3246120"/>
            <a:ext cx="2926080" cy="2743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600" lang="en-US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</a:t>
            </a:r>
            <a:endParaRPr dirty="0" sz="1600" lang="en-US"/>
          </a:p>
        </p:txBody>
      </p:sp>
      <p:sp>
        <p:nvSpPr>
          <p:cNvPr id="1048657" name="Text 15"/>
          <p:cNvSpPr txBox="1"/>
          <p:nvPr/>
        </p:nvSpPr>
        <p:spPr>
          <a:xfrm>
            <a:off x="5532120" y="3611880"/>
            <a:ext cx="2926080" cy="8229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300" lang="en-US">
                <a:solidFill>
                  <a:srgbClr val="6B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move and each photo uses time or battery.</a:t>
            </a:r>
            <a:endParaRPr dirty="0" sz="1300"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1E4"/>
        </a:solidFill>
      </p:bgPr>
    </p:bg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1" name="Text 0"/>
          <p:cNvSpPr txBox="1"/>
          <p:nvPr/>
        </p:nvSpPr>
        <p:spPr>
          <a:xfrm>
            <a:off x="548640" y="347472"/>
            <a:ext cx="4572000" cy="2286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100" kern="0" lang="en-US" spc="300">
                <a:solidFill>
                  <a:srgbClr val="D98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THE DEMO</a:t>
            </a:r>
            <a:endParaRPr dirty="0" sz="1100" lang="en-US"/>
          </a:p>
        </p:txBody>
      </p:sp>
      <p:sp>
        <p:nvSpPr>
          <p:cNvPr id="1048662" name="Text 1"/>
          <p:cNvSpPr txBox="1"/>
          <p:nvPr/>
        </p:nvSpPr>
        <p:spPr>
          <a:xfrm>
            <a:off x="548640" y="594360"/>
            <a:ext cx="8046720" cy="6400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3000" lang="en-US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scout on a farm grid</a:t>
            </a:r>
            <a:endParaRPr dirty="0" sz="3000" lang="en-US"/>
          </a:p>
        </p:txBody>
      </p:sp>
      <p:sp>
        <p:nvSpPr>
          <p:cNvPr id="1048663" name="Shape 2"/>
          <p:cNvSpPr/>
          <p:nvPr/>
        </p:nvSpPr>
        <p:spPr>
          <a:xfrm>
            <a:off x="548640" y="1280160"/>
            <a:ext cx="640080" cy="45720"/>
          </a:xfrm>
          <a:prstGeom prst="rect"/>
          <a:solidFill>
            <a:srgbClr val="D98E2B"/>
          </a:solidFill>
          <a:ln w="12700">
            <a:solidFill>
              <a:srgbClr val="D98E2B"/>
            </a:solidFill>
            <a:prstDash val="solid"/>
          </a:ln>
        </p:spPr>
      </p:sp>
      <p:sp>
        <p:nvSpPr>
          <p:cNvPr id="1048664" name="Text 3"/>
          <p:cNvSpPr txBox="1"/>
          <p:nvPr/>
        </p:nvSpPr>
        <p:spPr>
          <a:xfrm>
            <a:off x="8138160" y="4663440"/>
            <a:ext cx="457200" cy="228600"/>
          </a:xfrm>
          <a:prstGeom prst="rect"/>
          <a:noFill/>
        </p:spPr>
        <p:txBody>
          <a:bodyPr anchor="t" bIns="0" lIns="0" rIns="0" rtlCol="0" tIns="0" wrap="square"/>
          <a:p>
            <a:pPr algn="r" indent="0" marL="0">
              <a:buNone/>
            </a:pPr>
            <a:r>
              <a:rPr dirty="0" sz="1100" lang="en-US">
                <a:solidFill>
                  <a:srgbClr val="6B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dirty="0" sz="1100" lang="en-US"/>
          </a:p>
        </p:txBody>
      </p:sp>
      <p:sp>
        <p:nvSpPr>
          <p:cNvPr id="1048665" name="Shape 4"/>
          <p:cNvSpPr/>
          <p:nvPr/>
        </p:nvSpPr>
        <p:spPr>
          <a:xfrm>
            <a:off x="548640" y="1600200"/>
            <a:ext cx="457200" cy="457200"/>
          </a:xfrm>
          <a:prstGeom prst="rect"/>
          <a:solidFill>
            <a:srgbClr val="DDE8C8"/>
          </a:solidFill>
          <a:ln w="12700">
            <a:solidFill>
              <a:srgbClr val="DDE8C8"/>
            </a:solidFill>
            <a:prstDash val="solid"/>
          </a:ln>
        </p:spPr>
      </p:sp>
      <p:sp>
        <p:nvSpPr>
          <p:cNvPr id="1048666" name="Shape 5"/>
          <p:cNvSpPr/>
          <p:nvPr/>
        </p:nvSpPr>
        <p:spPr>
          <a:xfrm>
            <a:off x="1042416" y="1600200"/>
            <a:ext cx="457200" cy="457200"/>
          </a:xfrm>
          <a:prstGeom prst="rect"/>
          <a:solidFill>
            <a:srgbClr val="DDE8C8"/>
          </a:solidFill>
          <a:ln w="12700">
            <a:solidFill>
              <a:srgbClr val="DDE8C8"/>
            </a:solidFill>
            <a:prstDash val="solid"/>
          </a:ln>
        </p:spPr>
      </p:sp>
      <p:sp>
        <p:nvSpPr>
          <p:cNvPr id="1048667" name="Shape 6"/>
          <p:cNvSpPr/>
          <p:nvPr/>
        </p:nvSpPr>
        <p:spPr>
          <a:xfrm>
            <a:off x="1536192" y="1600200"/>
            <a:ext cx="457200" cy="457200"/>
          </a:xfrm>
          <a:prstGeom prst="rect"/>
          <a:solidFill>
            <a:srgbClr val="DDE8C8"/>
          </a:solidFill>
          <a:ln w="12700">
            <a:solidFill>
              <a:srgbClr val="DDE8C8"/>
            </a:solidFill>
            <a:prstDash val="solid"/>
          </a:ln>
        </p:spPr>
      </p:sp>
      <p:sp>
        <p:nvSpPr>
          <p:cNvPr id="1048668" name="Shape 7"/>
          <p:cNvSpPr/>
          <p:nvPr/>
        </p:nvSpPr>
        <p:spPr>
          <a:xfrm>
            <a:off x="2029968" y="1600200"/>
            <a:ext cx="457200" cy="457200"/>
          </a:xfrm>
          <a:prstGeom prst="rect"/>
          <a:solidFill>
            <a:srgbClr val="DDE8C8"/>
          </a:solidFill>
          <a:ln w="12700">
            <a:solidFill>
              <a:srgbClr val="DDE8C8"/>
            </a:solidFill>
            <a:prstDash val="solid"/>
          </a:ln>
        </p:spPr>
      </p:sp>
      <p:sp>
        <p:nvSpPr>
          <p:cNvPr id="1048669" name="Shape 8"/>
          <p:cNvSpPr/>
          <p:nvPr/>
        </p:nvSpPr>
        <p:spPr>
          <a:xfrm>
            <a:off x="2523744" y="1600200"/>
            <a:ext cx="457200" cy="457200"/>
          </a:xfrm>
          <a:prstGeom prst="rect"/>
          <a:solidFill>
            <a:srgbClr val="DDE8C8"/>
          </a:solidFill>
          <a:ln w="12700">
            <a:solidFill>
              <a:srgbClr val="DDE8C8"/>
            </a:solidFill>
            <a:prstDash val="solid"/>
          </a:ln>
        </p:spPr>
      </p:sp>
      <p:sp>
        <p:nvSpPr>
          <p:cNvPr id="1048670" name="Shape 9"/>
          <p:cNvSpPr/>
          <p:nvPr/>
        </p:nvSpPr>
        <p:spPr>
          <a:xfrm>
            <a:off x="3017520" y="1600200"/>
            <a:ext cx="457200" cy="457200"/>
          </a:xfrm>
          <a:prstGeom prst="rect"/>
          <a:solidFill>
            <a:srgbClr val="DDE8C8"/>
          </a:solidFill>
          <a:ln w="12700">
            <a:solidFill>
              <a:srgbClr val="DDE8C8"/>
            </a:solidFill>
            <a:prstDash val="solid"/>
          </a:ln>
        </p:spPr>
      </p:sp>
      <p:sp>
        <p:nvSpPr>
          <p:cNvPr id="1048671" name="Shape 10"/>
          <p:cNvSpPr/>
          <p:nvPr/>
        </p:nvSpPr>
        <p:spPr>
          <a:xfrm>
            <a:off x="3511296" y="1600200"/>
            <a:ext cx="457200" cy="457200"/>
          </a:xfrm>
          <a:prstGeom prst="rect"/>
          <a:solidFill>
            <a:srgbClr val="DDE8C8"/>
          </a:solidFill>
          <a:ln w="12700">
            <a:solidFill>
              <a:srgbClr val="DDE8C8"/>
            </a:solidFill>
            <a:prstDash val="solid"/>
          </a:ln>
        </p:spPr>
      </p:sp>
      <p:sp>
        <p:nvSpPr>
          <p:cNvPr id="1048672" name="Shape 11"/>
          <p:cNvSpPr/>
          <p:nvPr/>
        </p:nvSpPr>
        <p:spPr>
          <a:xfrm>
            <a:off x="4005072" y="1600200"/>
            <a:ext cx="457200" cy="457200"/>
          </a:xfrm>
          <a:prstGeom prst="rect"/>
          <a:solidFill>
            <a:srgbClr val="DDE8C8"/>
          </a:solidFill>
          <a:ln w="12700">
            <a:solidFill>
              <a:srgbClr val="DDE8C8"/>
            </a:solidFill>
            <a:prstDash val="solid"/>
          </a:ln>
        </p:spPr>
      </p:sp>
      <p:sp>
        <p:nvSpPr>
          <p:cNvPr id="1048673" name="Shape 12"/>
          <p:cNvSpPr/>
          <p:nvPr/>
        </p:nvSpPr>
        <p:spPr>
          <a:xfrm>
            <a:off x="548640" y="2093976"/>
            <a:ext cx="457200" cy="457200"/>
          </a:xfrm>
          <a:prstGeom prst="rect"/>
          <a:solidFill>
            <a:srgbClr val="DDE8C8"/>
          </a:solidFill>
          <a:ln w="12700">
            <a:solidFill>
              <a:srgbClr val="DDE8C8"/>
            </a:solidFill>
            <a:prstDash val="solid"/>
          </a:ln>
        </p:spPr>
      </p:sp>
      <p:sp>
        <p:nvSpPr>
          <p:cNvPr id="1048674" name="Shape 13"/>
          <p:cNvSpPr/>
          <p:nvPr/>
        </p:nvSpPr>
        <p:spPr>
          <a:xfrm>
            <a:off x="1042416" y="2093976"/>
            <a:ext cx="457200" cy="457200"/>
          </a:xfrm>
          <a:prstGeom prst="rect"/>
          <a:solidFill>
            <a:srgbClr val="DDE8C8"/>
          </a:solidFill>
          <a:ln w="12700">
            <a:solidFill>
              <a:srgbClr val="DDE8C8"/>
            </a:solidFill>
            <a:prstDash val="solid"/>
          </a:ln>
        </p:spPr>
      </p:sp>
      <p:sp>
        <p:nvSpPr>
          <p:cNvPr id="1048675" name="Shape 14"/>
          <p:cNvSpPr/>
          <p:nvPr/>
        </p:nvSpPr>
        <p:spPr>
          <a:xfrm>
            <a:off x="1536192" y="2093976"/>
            <a:ext cx="457200" cy="457200"/>
          </a:xfrm>
          <a:prstGeom prst="rect"/>
          <a:solidFill>
            <a:srgbClr val="DDE8C8"/>
          </a:solidFill>
          <a:ln w="12700">
            <a:solidFill>
              <a:srgbClr val="DDE8C8"/>
            </a:solidFill>
            <a:prstDash val="solid"/>
          </a:ln>
        </p:spPr>
      </p:sp>
      <p:sp>
        <p:nvSpPr>
          <p:cNvPr id="1048676" name="Shape 15"/>
          <p:cNvSpPr/>
          <p:nvPr/>
        </p:nvSpPr>
        <p:spPr>
          <a:xfrm>
            <a:off x="2029968" y="2093976"/>
            <a:ext cx="457200" cy="457200"/>
          </a:xfrm>
          <a:prstGeom prst="rect"/>
          <a:solidFill>
            <a:srgbClr val="DDE8C8"/>
          </a:solidFill>
          <a:ln w="12700">
            <a:solidFill>
              <a:srgbClr val="DDE8C8"/>
            </a:solidFill>
            <a:prstDash val="solid"/>
          </a:ln>
        </p:spPr>
      </p:sp>
      <p:sp>
        <p:nvSpPr>
          <p:cNvPr id="1048677" name="Shape 16"/>
          <p:cNvSpPr/>
          <p:nvPr/>
        </p:nvSpPr>
        <p:spPr>
          <a:xfrm>
            <a:off x="2523744" y="2093976"/>
            <a:ext cx="457200" cy="457200"/>
          </a:xfrm>
          <a:prstGeom prst="rect"/>
          <a:solidFill>
            <a:srgbClr val="DDE8C8"/>
          </a:solidFill>
          <a:ln w="12700">
            <a:solidFill>
              <a:srgbClr val="DDE8C8"/>
            </a:solidFill>
            <a:prstDash val="solid"/>
          </a:ln>
        </p:spPr>
      </p:sp>
      <p:sp>
        <p:nvSpPr>
          <p:cNvPr id="1048678" name="Shape 17"/>
          <p:cNvSpPr/>
          <p:nvPr/>
        </p:nvSpPr>
        <p:spPr>
          <a:xfrm>
            <a:off x="3017520" y="2093976"/>
            <a:ext cx="457200" cy="457200"/>
          </a:xfrm>
          <a:prstGeom prst="rect"/>
          <a:solidFill>
            <a:srgbClr val="B5462F"/>
          </a:solidFill>
          <a:ln w="12700">
            <a:solidFill>
              <a:srgbClr val="B5462F"/>
            </a:solidFill>
            <a:prstDash val="solid"/>
          </a:ln>
        </p:spPr>
      </p:sp>
      <p:sp>
        <p:nvSpPr>
          <p:cNvPr id="1048679" name="Shape 18"/>
          <p:cNvSpPr/>
          <p:nvPr/>
        </p:nvSpPr>
        <p:spPr>
          <a:xfrm>
            <a:off x="3511296" y="2093976"/>
            <a:ext cx="457200" cy="457200"/>
          </a:xfrm>
          <a:prstGeom prst="rect"/>
          <a:solidFill>
            <a:srgbClr val="B5462F"/>
          </a:solidFill>
          <a:ln w="12700">
            <a:solidFill>
              <a:srgbClr val="B5462F"/>
            </a:solidFill>
            <a:prstDash val="solid"/>
          </a:ln>
        </p:spPr>
      </p:sp>
      <p:sp>
        <p:nvSpPr>
          <p:cNvPr id="1048680" name="Shape 19"/>
          <p:cNvSpPr/>
          <p:nvPr/>
        </p:nvSpPr>
        <p:spPr>
          <a:xfrm>
            <a:off x="4005072" y="2093976"/>
            <a:ext cx="457200" cy="457200"/>
          </a:xfrm>
          <a:prstGeom prst="rect"/>
          <a:solidFill>
            <a:srgbClr val="DDE8C8"/>
          </a:solidFill>
          <a:ln w="12700">
            <a:solidFill>
              <a:srgbClr val="DDE8C8"/>
            </a:solidFill>
            <a:prstDash val="solid"/>
          </a:ln>
        </p:spPr>
      </p:sp>
      <p:sp>
        <p:nvSpPr>
          <p:cNvPr id="1048681" name="Shape 20"/>
          <p:cNvSpPr/>
          <p:nvPr/>
        </p:nvSpPr>
        <p:spPr>
          <a:xfrm>
            <a:off x="548640" y="2587752"/>
            <a:ext cx="457200" cy="457200"/>
          </a:xfrm>
          <a:prstGeom prst="rect"/>
          <a:solidFill>
            <a:srgbClr val="DDE8C8"/>
          </a:solidFill>
          <a:ln w="12700">
            <a:solidFill>
              <a:srgbClr val="DDE8C8"/>
            </a:solidFill>
            <a:prstDash val="solid"/>
          </a:ln>
        </p:spPr>
      </p:sp>
      <p:sp>
        <p:nvSpPr>
          <p:cNvPr id="1048682" name="Shape 21"/>
          <p:cNvSpPr/>
          <p:nvPr/>
        </p:nvSpPr>
        <p:spPr>
          <a:xfrm>
            <a:off x="1042416" y="2587752"/>
            <a:ext cx="457200" cy="457200"/>
          </a:xfrm>
          <a:prstGeom prst="rect"/>
          <a:solidFill>
            <a:srgbClr val="DDE8C8"/>
          </a:solidFill>
          <a:ln w="12700">
            <a:solidFill>
              <a:srgbClr val="DDE8C8"/>
            </a:solidFill>
            <a:prstDash val="solid"/>
          </a:ln>
        </p:spPr>
      </p:sp>
      <p:sp>
        <p:nvSpPr>
          <p:cNvPr id="1048683" name="Shape 22"/>
          <p:cNvSpPr/>
          <p:nvPr/>
        </p:nvSpPr>
        <p:spPr>
          <a:xfrm>
            <a:off x="1536192" y="2587752"/>
            <a:ext cx="457200" cy="457200"/>
          </a:xfrm>
          <a:prstGeom prst="rect"/>
          <a:solidFill>
            <a:srgbClr val="DDE8C8"/>
          </a:solidFill>
          <a:ln w="12700">
            <a:solidFill>
              <a:srgbClr val="DDE8C8"/>
            </a:solidFill>
            <a:prstDash val="solid"/>
          </a:ln>
        </p:spPr>
      </p:sp>
      <p:sp>
        <p:nvSpPr>
          <p:cNvPr id="1048684" name="Shape 23"/>
          <p:cNvSpPr/>
          <p:nvPr/>
        </p:nvSpPr>
        <p:spPr>
          <a:xfrm>
            <a:off x="2029968" y="2587752"/>
            <a:ext cx="457200" cy="457200"/>
          </a:xfrm>
          <a:prstGeom prst="rect"/>
          <a:solidFill>
            <a:srgbClr val="D98E2B"/>
          </a:solidFill>
          <a:ln w="12700">
            <a:solidFill>
              <a:srgbClr val="D98E2B"/>
            </a:solidFill>
            <a:prstDash val="solid"/>
          </a:ln>
        </p:spPr>
      </p:sp>
      <p:sp>
        <p:nvSpPr>
          <p:cNvPr id="1048685" name="Shape 24"/>
          <p:cNvSpPr/>
          <p:nvPr/>
        </p:nvSpPr>
        <p:spPr>
          <a:xfrm>
            <a:off x="2523744" y="2587752"/>
            <a:ext cx="457200" cy="457200"/>
          </a:xfrm>
          <a:prstGeom prst="rect"/>
          <a:solidFill>
            <a:srgbClr val="D98E2B"/>
          </a:solidFill>
          <a:ln w="12700">
            <a:solidFill>
              <a:srgbClr val="D98E2B"/>
            </a:solidFill>
            <a:prstDash val="solid"/>
          </a:ln>
        </p:spPr>
      </p:sp>
      <p:sp>
        <p:nvSpPr>
          <p:cNvPr id="1048686" name="Shape 25"/>
          <p:cNvSpPr/>
          <p:nvPr/>
        </p:nvSpPr>
        <p:spPr>
          <a:xfrm>
            <a:off x="3017520" y="2587752"/>
            <a:ext cx="457200" cy="457200"/>
          </a:xfrm>
          <a:prstGeom prst="rect"/>
          <a:solidFill>
            <a:srgbClr val="B5462F"/>
          </a:solidFill>
          <a:ln w="12700">
            <a:solidFill>
              <a:srgbClr val="B5462F"/>
            </a:solidFill>
            <a:prstDash val="solid"/>
          </a:ln>
        </p:spPr>
      </p:sp>
      <p:sp>
        <p:nvSpPr>
          <p:cNvPr id="1048687" name="Shape 26"/>
          <p:cNvSpPr/>
          <p:nvPr/>
        </p:nvSpPr>
        <p:spPr>
          <a:xfrm>
            <a:off x="3511296" y="2587752"/>
            <a:ext cx="457200" cy="457200"/>
          </a:xfrm>
          <a:prstGeom prst="rect"/>
          <a:solidFill>
            <a:srgbClr val="B5462F"/>
          </a:solidFill>
          <a:ln w="12700">
            <a:solidFill>
              <a:srgbClr val="B5462F"/>
            </a:solidFill>
            <a:prstDash val="solid"/>
          </a:ln>
        </p:spPr>
      </p:sp>
      <p:sp>
        <p:nvSpPr>
          <p:cNvPr id="1048688" name="Shape 27"/>
          <p:cNvSpPr/>
          <p:nvPr/>
        </p:nvSpPr>
        <p:spPr>
          <a:xfrm>
            <a:off x="4005072" y="2587752"/>
            <a:ext cx="457200" cy="457200"/>
          </a:xfrm>
          <a:prstGeom prst="rect"/>
          <a:solidFill>
            <a:srgbClr val="DDE8C8"/>
          </a:solidFill>
          <a:ln w="12700">
            <a:solidFill>
              <a:srgbClr val="DDE8C8"/>
            </a:solidFill>
            <a:prstDash val="solid"/>
          </a:ln>
        </p:spPr>
      </p:sp>
      <p:sp>
        <p:nvSpPr>
          <p:cNvPr id="1048689" name="Shape 28"/>
          <p:cNvSpPr/>
          <p:nvPr/>
        </p:nvSpPr>
        <p:spPr>
          <a:xfrm>
            <a:off x="548640" y="3081528"/>
            <a:ext cx="457200" cy="457200"/>
          </a:xfrm>
          <a:prstGeom prst="rect"/>
          <a:solidFill>
            <a:srgbClr val="DDE8C8"/>
          </a:solidFill>
          <a:ln w="12700">
            <a:solidFill>
              <a:srgbClr val="DDE8C8"/>
            </a:solidFill>
            <a:prstDash val="solid"/>
          </a:ln>
        </p:spPr>
      </p:sp>
      <p:sp>
        <p:nvSpPr>
          <p:cNvPr id="1048690" name="Shape 29"/>
          <p:cNvSpPr/>
          <p:nvPr/>
        </p:nvSpPr>
        <p:spPr>
          <a:xfrm>
            <a:off x="1042416" y="3081528"/>
            <a:ext cx="457200" cy="457200"/>
          </a:xfrm>
          <a:prstGeom prst="rect"/>
          <a:solidFill>
            <a:srgbClr val="DDE8C8"/>
          </a:solidFill>
          <a:ln w="12700">
            <a:solidFill>
              <a:srgbClr val="DDE8C8"/>
            </a:solidFill>
            <a:prstDash val="solid"/>
          </a:ln>
        </p:spPr>
      </p:sp>
      <p:sp>
        <p:nvSpPr>
          <p:cNvPr id="1048691" name="Shape 30"/>
          <p:cNvSpPr/>
          <p:nvPr/>
        </p:nvSpPr>
        <p:spPr>
          <a:xfrm>
            <a:off x="1536192" y="3081528"/>
            <a:ext cx="457200" cy="457200"/>
          </a:xfrm>
          <a:prstGeom prst="rect"/>
          <a:solidFill>
            <a:srgbClr val="D98E2B"/>
          </a:solidFill>
          <a:ln w="12700">
            <a:solidFill>
              <a:srgbClr val="D98E2B"/>
            </a:solidFill>
            <a:prstDash val="solid"/>
          </a:ln>
        </p:spPr>
      </p:sp>
      <p:sp>
        <p:nvSpPr>
          <p:cNvPr id="1048692" name="Shape 31"/>
          <p:cNvSpPr/>
          <p:nvPr/>
        </p:nvSpPr>
        <p:spPr>
          <a:xfrm>
            <a:off x="2029968" y="3081528"/>
            <a:ext cx="457200" cy="457200"/>
          </a:xfrm>
          <a:prstGeom prst="rect"/>
          <a:solidFill>
            <a:srgbClr val="D98E2B"/>
          </a:solidFill>
          <a:ln w="12700">
            <a:solidFill>
              <a:srgbClr val="D98E2B"/>
            </a:solidFill>
            <a:prstDash val="solid"/>
          </a:ln>
        </p:spPr>
      </p:sp>
      <p:sp>
        <p:nvSpPr>
          <p:cNvPr id="1048693" name="Shape 32"/>
          <p:cNvSpPr/>
          <p:nvPr/>
        </p:nvSpPr>
        <p:spPr>
          <a:xfrm>
            <a:off x="2523744" y="3081528"/>
            <a:ext cx="457200" cy="457200"/>
          </a:xfrm>
          <a:prstGeom prst="rect"/>
          <a:solidFill>
            <a:srgbClr val="DDE8C8"/>
          </a:solidFill>
          <a:ln w="12700">
            <a:solidFill>
              <a:srgbClr val="DDE8C8"/>
            </a:solidFill>
            <a:prstDash val="solid"/>
          </a:ln>
        </p:spPr>
      </p:sp>
      <p:sp>
        <p:nvSpPr>
          <p:cNvPr id="1048694" name="Shape 33"/>
          <p:cNvSpPr/>
          <p:nvPr/>
        </p:nvSpPr>
        <p:spPr>
          <a:xfrm>
            <a:off x="3017520" y="3081528"/>
            <a:ext cx="457200" cy="457200"/>
          </a:xfrm>
          <a:prstGeom prst="rect"/>
          <a:solidFill>
            <a:srgbClr val="DDE8C8"/>
          </a:solidFill>
          <a:ln w="12700">
            <a:solidFill>
              <a:srgbClr val="DDE8C8"/>
            </a:solidFill>
            <a:prstDash val="solid"/>
          </a:ln>
        </p:spPr>
      </p:sp>
      <p:sp>
        <p:nvSpPr>
          <p:cNvPr id="1048695" name="Shape 34"/>
          <p:cNvSpPr/>
          <p:nvPr/>
        </p:nvSpPr>
        <p:spPr>
          <a:xfrm>
            <a:off x="3511296" y="3081528"/>
            <a:ext cx="457200" cy="457200"/>
          </a:xfrm>
          <a:prstGeom prst="rect"/>
          <a:solidFill>
            <a:srgbClr val="B5462F"/>
          </a:solidFill>
          <a:ln w="12700">
            <a:solidFill>
              <a:srgbClr val="B5462F"/>
            </a:solidFill>
            <a:prstDash val="solid"/>
          </a:ln>
        </p:spPr>
      </p:sp>
      <p:sp>
        <p:nvSpPr>
          <p:cNvPr id="1048696" name="Shape 35"/>
          <p:cNvSpPr/>
          <p:nvPr/>
        </p:nvSpPr>
        <p:spPr>
          <a:xfrm>
            <a:off x="4005072" y="3081528"/>
            <a:ext cx="457200" cy="457200"/>
          </a:xfrm>
          <a:prstGeom prst="rect"/>
          <a:solidFill>
            <a:srgbClr val="DDE8C8"/>
          </a:solidFill>
          <a:ln w="12700">
            <a:solidFill>
              <a:srgbClr val="DDE8C8"/>
            </a:solidFill>
            <a:prstDash val="solid"/>
          </a:ln>
        </p:spPr>
      </p:sp>
      <p:sp>
        <p:nvSpPr>
          <p:cNvPr id="1048697" name="Shape 36"/>
          <p:cNvSpPr/>
          <p:nvPr/>
        </p:nvSpPr>
        <p:spPr>
          <a:xfrm>
            <a:off x="548640" y="3575304"/>
            <a:ext cx="457200" cy="457200"/>
          </a:xfrm>
          <a:prstGeom prst="rect"/>
          <a:solidFill>
            <a:srgbClr val="DDE8C8"/>
          </a:solidFill>
          <a:ln w="12700">
            <a:solidFill>
              <a:srgbClr val="DDE8C8"/>
            </a:solidFill>
            <a:prstDash val="solid"/>
          </a:ln>
        </p:spPr>
      </p:sp>
      <p:sp>
        <p:nvSpPr>
          <p:cNvPr id="1048698" name="Shape 37"/>
          <p:cNvSpPr/>
          <p:nvPr/>
        </p:nvSpPr>
        <p:spPr>
          <a:xfrm>
            <a:off x="1042416" y="3575304"/>
            <a:ext cx="457200" cy="457200"/>
          </a:xfrm>
          <a:prstGeom prst="rect"/>
          <a:solidFill>
            <a:srgbClr val="D98E2B"/>
          </a:solidFill>
          <a:ln w="12700">
            <a:solidFill>
              <a:srgbClr val="D98E2B"/>
            </a:solidFill>
            <a:prstDash val="solid"/>
          </a:ln>
        </p:spPr>
      </p:sp>
      <p:sp>
        <p:nvSpPr>
          <p:cNvPr id="1048699" name="Shape 38"/>
          <p:cNvSpPr/>
          <p:nvPr/>
        </p:nvSpPr>
        <p:spPr>
          <a:xfrm>
            <a:off x="1536192" y="3575304"/>
            <a:ext cx="457200" cy="457200"/>
          </a:xfrm>
          <a:prstGeom prst="rect"/>
          <a:solidFill>
            <a:srgbClr val="D98E2B"/>
          </a:solidFill>
          <a:ln w="12700">
            <a:solidFill>
              <a:srgbClr val="D98E2B"/>
            </a:solidFill>
            <a:prstDash val="solid"/>
          </a:ln>
        </p:spPr>
      </p:sp>
      <p:sp>
        <p:nvSpPr>
          <p:cNvPr id="1048700" name="Shape 39"/>
          <p:cNvSpPr/>
          <p:nvPr/>
        </p:nvSpPr>
        <p:spPr>
          <a:xfrm>
            <a:off x="2029968" y="3575304"/>
            <a:ext cx="457200" cy="457200"/>
          </a:xfrm>
          <a:prstGeom prst="rect"/>
          <a:solidFill>
            <a:srgbClr val="DDE8C8"/>
          </a:solidFill>
          <a:ln w="12700">
            <a:solidFill>
              <a:srgbClr val="DDE8C8"/>
            </a:solidFill>
            <a:prstDash val="solid"/>
          </a:ln>
        </p:spPr>
      </p:sp>
      <p:sp>
        <p:nvSpPr>
          <p:cNvPr id="1048701" name="Shape 40"/>
          <p:cNvSpPr/>
          <p:nvPr/>
        </p:nvSpPr>
        <p:spPr>
          <a:xfrm>
            <a:off x="2523744" y="3575304"/>
            <a:ext cx="457200" cy="457200"/>
          </a:xfrm>
          <a:prstGeom prst="rect"/>
          <a:solidFill>
            <a:srgbClr val="DDE8C8"/>
          </a:solidFill>
          <a:ln w="12700">
            <a:solidFill>
              <a:srgbClr val="DDE8C8"/>
            </a:solidFill>
            <a:prstDash val="solid"/>
          </a:ln>
        </p:spPr>
      </p:sp>
      <p:sp>
        <p:nvSpPr>
          <p:cNvPr id="1048702" name="Shape 41"/>
          <p:cNvSpPr/>
          <p:nvPr/>
        </p:nvSpPr>
        <p:spPr>
          <a:xfrm>
            <a:off x="3017520" y="3575304"/>
            <a:ext cx="457200" cy="457200"/>
          </a:xfrm>
          <a:prstGeom prst="rect"/>
          <a:solidFill>
            <a:srgbClr val="DDE8C8"/>
          </a:solidFill>
          <a:ln w="12700">
            <a:solidFill>
              <a:srgbClr val="DDE8C8"/>
            </a:solidFill>
            <a:prstDash val="solid"/>
          </a:ln>
        </p:spPr>
      </p:sp>
      <p:sp>
        <p:nvSpPr>
          <p:cNvPr id="1048703" name="Shape 42"/>
          <p:cNvSpPr/>
          <p:nvPr/>
        </p:nvSpPr>
        <p:spPr>
          <a:xfrm>
            <a:off x="3511296" y="3575304"/>
            <a:ext cx="457200" cy="457200"/>
          </a:xfrm>
          <a:prstGeom prst="rect"/>
          <a:solidFill>
            <a:srgbClr val="DDE8C8"/>
          </a:solidFill>
          <a:ln w="12700">
            <a:solidFill>
              <a:srgbClr val="DDE8C8"/>
            </a:solidFill>
            <a:prstDash val="solid"/>
          </a:ln>
        </p:spPr>
      </p:sp>
      <p:sp>
        <p:nvSpPr>
          <p:cNvPr id="1048704" name="Shape 43"/>
          <p:cNvSpPr/>
          <p:nvPr/>
        </p:nvSpPr>
        <p:spPr>
          <a:xfrm>
            <a:off x="4005072" y="3575304"/>
            <a:ext cx="457200" cy="457200"/>
          </a:xfrm>
          <a:prstGeom prst="rect"/>
          <a:solidFill>
            <a:srgbClr val="DDE8C8"/>
          </a:solidFill>
          <a:ln w="12700">
            <a:solidFill>
              <a:srgbClr val="DDE8C8"/>
            </a:solidFill>
            <a:prstDash val="solid"/>
          </a:ln>
        </p:spPr>
      </p:sp>
      <p:sp>
        <p:nvSpPr>
          <p:cNvPr id="1048705" name="Shape 44"/>
          <p:cNvSpPr/>
          <p:nvPr/>
        </p:nvSpPr>
        <p:spPr>
          <a:xfrm>
            <a:off x="548640" y="4069080"/>
            <a:ext cx="457200" cy="457200"/>
          </a:xfrm>
          <a:prstGeom prst="rect"/>
          <a:solidFill>
            <a:srgbClr val="D98E2B"/>
          </a:solidFill>
          <a:ln w="12700">
            <a:solidFill>
              <a:srgbClr val="D98E2B"/>
            </a:solidFill>
            <a:prstDash val="solid"/>
          </a:ln>
        </p:spPr>
      </p:sp>
      <p:sp>
        <p:nvSpPr>
          <p:cNvPr id="1048706" name="Shape 45"/>
          <p:cNvSpPr/>
          <p:nvPr/>
        </p:nvSpPr>
        <p:spPr>
          <a:xfrm>
            <a:off x="1042416" y="4069080"/>
            <a:ext cx="457200" cy="457200"/>
          </a:xfrm>
          <a:prstGeom prst="rect"/>
          <a:solidFill>
            <a:srgbClr val="D98E2B"/>
          </a:solidFill>
          <a:ln w="12700">
            <a:solidFill>
              <a:srgbClr val="D98E2B"/>
            </a:solidFill>
            <a:prstDash val="solid"/>
          </a:ln>
        </p:spPr>
      </p:sp>
      <p:sp>
        <p:nvSpPr>
          <p:cNvPr id="1048707" name="Shape 46"/>
          <p:cNvSpPr/>
          <p:nvPr/>
        </p:nvSpPr>
        <p:spPr>
          <a:xfrm>
            <a:off x="1536192" y="4069080"/>
            <a:ext cx="457200" cy="457200"/>
          </a:xfrm>
          <a:prstGeom prst="rect"/>
          <a:solidFill>
            <a:srgbClr val="DDE8C8"/>
          </a:solidFill>
          <a:ln w="12700">
            <a:solidFill>
              <a:srgbClr val="DDE8C8"/>
            </a:solidFill>
            <a:prstDash val="solid"/>
          </a:ln>
        </p:spPr>
      </p:sp>
      <p:sp>
        <p:nvSpPr>
          <p:cNvPr id="1048708" name="Shape 47"/>
          <p:cNvSpPr/>
          <p:nvPr/>
        </p:nvSpPr>
        <p:spPr>
          <a:xfrm>
            <a:off x="2029968" y="4069080"/>
            <a:ext cx="457200" cy="457200"/>
          </a:xfrm>
          <a:prstGeom prst="rect"/>
          <a:solidFill>
            <a:srgbClr val="DDE8C8"/>
          </a:solidFill>
          <a:ln w="12700">
            <a:solidFill>
              <a:srgbClr val="DDE8C8"/>
            </a:solidFill>
            <a:prstDash val="solid"/>
          </a:ln>
        </p:spPr>
      </p:sp>
      <p:sp>
        <p:nvSpPr>
          <p:cNvPr id="1048709" name="Shape 48"/>
          <p:cNvSpPr/>
          <p:nvPr/>
        </p:nvSpPr>
        <p:spPr>
          <a:xfrm>
            <a:off x="2523744" y="4069080"/>
            <a:ext cx="457200" cy="457200"/>
          </a:xfrm>
          <a:prstGeom prst="rect"/>
          <a:solidFill>
            <a:srgbClr val="DDE8C8"/>
          </a:solidFill>
          <a:ln w="12700">
            <a:solidFill>
              <a:srgbClr val="DDE8C8"/>
            </a:solidFill>
            <a:prstDash val="solid"/>
          </a:ln>
        </p:spPr>
      </p:sp>
      <p:sp>
        <p:nvSpPr>
          <p:cNvPr id="1048710" name="Shape 49"/>
          <p:cNvSpPr/>
          <p:nvPr/>
        </p:nvSpPr>
        <p:spPr>
          <a:xfrm>
            <a:off x="3017520" y="4069080"/>
            <a:ext cx="457200" cy="457200"/>
          </a:xfrm>
          <a:prstGeom prst="rect"/>
          <a:solidFill>
            <a:srgbClr val="DDE8C8"/>
          </a:solidFill>
          <a:ln w="12700">
            <a:solidFill>
              <a:srgbClr val="DDE8C8"/>
            </a:solidFill>
            <a:prstDash val="solid"/>
          </a:ln>
        </p:spPr>
      </p:sp>
      <p:sp>
        <p:nvSpPr>
          <p:cNvPr id="1048711" name="Shape 50"/>
          <p:cNvSpPr/>
          <p:nvPr/>
        </p:nvSpPr>
        <p:spPr>
          <a:xfrm>
            <a:off x="3511296" y="4069080"/>
            <a:ext cx="457200" cy="457200"/>
          </a:xfrm>
          <a:prstGeom prst="rect"/>
          <a:solidFill>
            <a:srgbClr val="DDE8C8"/>
          </a:solidFill>
          <a:ln w="12700">
            <a:solidFill>
              <a:srgbClr val="DDE8C8"/>
            </a:solidFill>
            <a:prstDash val="solid"/>
          </a:ln>
        </p:spPr>
      </p:sp>
      <p:sp>
        <p:nvSpPr>
          <p:cNvPr id="1048712" name="Shape 51"/>
          <p:cNvSpPr/>
          <p:nvPr/>
        </p:nvSpPr>
        <p:spPr>
          <a:xfrm>
            <a:off x="4005072" y="4069080"/>
            <a:ext cx="457200" cy="457200"/>
          </a:xfrm>
          <a:prstGeom prst="rect"/>
          <a:solidFill>
            <a:srgbClr val="DDE8C8"/>
          </a:solidFill>
          <a:ln w="12700">
            <a:solidFill>
              <a:srgbClr val="DDE8C8"/>
            </a:solidFill>
            <a:prstDash val="solid"/>
          </a:ln>
        </p:spPr>
      </p:sp>
      <p:sp>
        <p:nvSpPr>
          <p:cNvPr id="1048713" name="Text 52"/>
          <p:cNvSpPr txBox="1"/>
          <p:nvPr/>
        </p:nvSpPr>
        <p:spPr>
          <a:xfrm>
            <a:off x="548640" y="406908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dirty="0" sz="1600" lang="en-US"/>
          </a:p>
        </p:txBody>
      </p:sp>
      <p:sp>
        <p:nvSpPr>
          <p:cNvPr id="1048714" name="Text 53"/>
          <p:cNvSpPr txBox="1"/>
          <p:nvPr/>
        </p:nvSpPr>
        <p:spPr>
          <a:xfrm>
            <a:off x="548640" y="4617720"/>
            <a:ext cx="3931920" cy="2286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900" i="1" lang="en-US">
                <a:solidFill>
                  <a:srgbClr val="6B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path, early sketch</a:t>
            </a:r>
            <a:endParaRPr dirty="0" sz="900" lang="en-US"/>
          </a:p>
        </p:txBody>
      </p:sp>
      <p:sp>
        <p:nvSpPr>
          <p:cNvPr id="1048715" name="Shape 54"/>
          <p:cNvSpPr/>
          <p:nvPr/>
        </p:nvSpPr>
        <p:spPr>
          <a:xfrm>
            <a:off x="4846320" y="1828800"/>
            <a:ext cx="320040" cy="320040"/>
          </a:xfrm>
          <a:prstGeom prst="rect"/>
          <a:solidFill>
            <a:srgbClr val="DDE8C8"/>
          </a:solidFill>
          <a:ln w="12700">
            <a:solidFill>
              <a:srgbClr val="DDE8C8"/>
            </a:solidFill>
            <a:prstDash val="solid"/>
          </a:ln>
        </p:spPr>
      </p:sp>
      <p:sp>
        <p:nvSpPr>
          <p:cNvPr id="1048716" name="Text 55"/>
          <p:cNvSpPr txBox="1"/>
          <p:nvPr/>
        </p:nvSpPr>
        <p:spPr>
          <a:xfrm>
            <a:off x="5349240" y="1828800"/>
            <a:ext cx="320040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Unchecked plant</a:t>
            </a:r>
            <a:endParaRPr dirty="0" sz="1400" lang="en-US"/>
          </a:p>
        </p:txBody>
      </p:sp>
      <p:sp>
        <p:nvSpPr>
          <p:cNvPr id="1048717" name="Shape 56"/>
          <p:cNvSpPr/>
          <p:nvPr/>
        </p:nvSpPr>
        <p:spPr>
          <a:xfrm>
            <a:off x="4846320" y="2377440"/>
            <a:ext cx="320040" cy="320040"/>
          </a:xfrm>
          <a:prstGeom prst="rect"/>
          <a:solidFill>
            <a:srgbClr val="D98E2B"/>
          </a:solidFill>
          <a:ln w="12700">
            <a:solidFill>
              <a:srgbClr val="D98E2B"/>
            </a:solidFill>
            <a:prstDash val="solid"/>
          </a:ln>
        </p:spPr>
      </p:sp>
      <p:sp>
        <p:nvSpPr>
          <p:cNvPr id="1048718" name="Text 57"/>
          <p:cNvSpPr txBox="1"/>
          <p:nvPr/>
        </p:nvSpPr>
        <p:spPr>
          <a:xfrm>
            <a:off x="5349240" y="2377440"/>
            <a:ext cx="320040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the scout took</a:t>
            </a:r>
            <a:endParaRPr dirty="0" sz="1400" lang="en-US"/>
          </a:p>
        </p:txBody>
      </p:sp>
      <p:sp>
        <p:nvSpPr>
          <p:cNvPr id="1048719" name="Shape 58"/>
          <p:cNvSpPr/>
          <p:nvPr/>
        </p:nvSpPr>
        <p:spPr>
          <a:xfrm>
            <a:off x="4846320" y="2926080"/>
            <a:ext cx="320040" cy="320040"/>
          </a:xfrm>
          <a:prstGeom prst="rect"/>
          <a:solidFill>
            <a:srgbClr val="B5462F"/>
          </a:solidFill>
          <a:ln w="12700">
            <a:solidFill>
              <a:srgbClr val="B5462F"/>
            </a:solidFill>
            <a:prstDash val="solid"/>
          </a:ln>
        </p:spPr>
      </p:sp>
      <p:sp>
        <p:nvSpPr>
          <p:cNvPr id="1048720" name="Text 59"/>
          <p:cNvSpPr txBox="1"/>
          <p:nvPr/>
        </p:nvSpPr>
        <p:spPr>
          <a:xfrm>
            <a:off x="5349240" y="2926080"/>
            <a:ext cx="320040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Infested plants</a:t>
            </a:r>
            <a:endParaRPr dirty="0" sz="1400" lang="en-US"/>
          </a:p>
        </p:txBody>
      </p:sp>
      <p:sp>
        <p:nvSpPr>
          <p:cNvPr id="1048721" name="Text 60"/>
          <p:cNvSpPr txBox="1"/>
          <p:nvPr/>
        </p:nvSpPr>
        <p:spPr>
          <a:xfrm>
            <a:off x="4846320" y="3611880"/>
            <a:ext cx="3749040" cy="7315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500" i="1" lang="en-US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scout starts at S and reaches the pest cluster in 8 moves.</a:t>
            </a:r>
            <a:endParaRPr dirty="0" sz="1500"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1E4"/>
        </a:solidFill>
      </p:bgPr>
    </p:bg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5" name="Text 0"/>
          <p:cNvSpPr txBox="1"/>
          <p:nvPr/>
        </p:nvSpPr>
        <p:spPr>
          <a:xfrm>
            <a:off x="548640" y="347472"/>
            <a:ext cx="4572000" cy="2286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100" kern="0" lang="en-US" spc="300">
                <a:solidFill>
                  <a:srgbClr val="D98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THE AI EYES</a:t>
            </a:r>
            <a:endParaRPr dirty="0" sz="1100" lang="en-US"/>
          </a:p>
        </p:txBody>
      </p:sp>
      <p:sp>
        <p:nvSpPr>
          <p:cNvPr id="1048726" name="Text 1"/>
          <p:cNvSpPr txBox="1"/>
          <p:nvPr/>
        </p:nvSpPr>
        <p:spPr>
          <a:xfrm>
            <a:off x="548640" y="594360"/>
            <a:ext cx="8046720" cy="6400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3000" lang="en-US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Image recognition guides the search</a:t>
            </a:r>
            <a:endParaRPr dirty="0" sz="3000" lang="en-US"/>
          </a:p>
        </p:txBody>
      </p:sp>
      <p:sp>
        <p:nvSpPr>
          <p:cNvPr id="1048727" name="Shape 2"/>
          <p:cNvSpPr/>
          <p:nvPr/>
        </p:nvSpPr>
        <p:spPr>
          <a:xfrm>
            <a:off x="548640" y="1280160"/>
            <a:ext cx="640080" cy="45720"/>
          </a:xfrm>
          <a:prstGeom prst="rect"/>
          <a:solidFill>
            <a:srgbClr val="D98E2B"/>
          </a:solidFill>
          <a:ln w="12700">
            <a:solidFill>
              <a:srgbClr val="D98E2B"/>
            </a:solidFill>
            <a:prstDash val="solid"/>
          </a:ln>
        </p:spPr>
      </p:sp>
      <p:sp>
        <p:nvSpPr>
          <p:cNvPr id="1048728" name="Text 3"/>
          <p:cNvSpPr txBox="1"/>
          <p:nvPr/>
        </p:nvSpPr>
        <p:spPr>
          <a:xfrm>
            <a:off x="8138160" y="4663440"/>
            <a:ext cx="457200" cy="228600"/>
          </a:xfrm>
          <a:prstGeom prst="rect"/>
          <a:noFill/>
        </p:spPr>
        <p:txBody>
          <a:bodyPr anchor="t" bIns="0" lIns="0" rIns="0" rtlCol="0" tIns="0" wrap="square"/>
          <a:p>
            <a:pPr algn="r" indent="0" marL="0">
              <a:buNone/>
            </a:pPr>
            <a:r>
              <a:rPr dirty="0" sz="1100" lang="en-US">
                <a:solidFill>
                  <a:srgbClr val="6B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dirty="0" sz="1100" lang="en-US"/>
          </a:p>
        </p:txBody>
      </p:sp>
      <p:sp>
        <p:nvSpPr>
          <p:cNvPr id="1048729" name="Text 4"/>
          <p:cNvSpPr txBox="1"/>
          <p:nvPr/>
        </p:nvSpPr>
        <p:spPr>
          <a:xfrm>
            <a:off x="548640" y="1600200"/>
            <a:ext cx="822960" cy="6400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3400" lang="en-US">
                <a:solidFill>
                  <a:srgbClr val="5B8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dirty="0" sz="3400" lang="en-US"/>
          </a:p>
        </p:txBody>
      </p:sp>
      <p:sp>
        <p:nvSpPr>
          <p:cNvPr id="1048730" name="Text 5"/>
          <p:cNvSpPr txBox="1"/>
          <p:nvPr/>
        </p:nvSpPr>
        <p:spPr>
          <a:xfrm>
            <a:off x="1371600" y="1618488"/>
            <a:ext cx="6858000" cy="2743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700" lang="en-US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Photo at each plant</a:t>
            </a:r>
            <a:endParaRPr dirty="0" sz="1700" lang="en-US"/>
          </a:p>
        </p:txBody>
      </p:sp>
      <p:sp>
        <p:nvSpPr>
          <p:cNvPr id="1048731" name="Text 6"/>
          <p:cNvSpPr txBox="1"/>
          <p:nvPr/>
        </p:nvSpPr>
        <p:spPr>
          <a:xfrm>
            <a:off x="1371600" y="1965960"/>
            <a:ext cx="6858000" cy="54864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6B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scout takes a picture of the plant it reaches.</a:t>
            </a:r>
            <a:endParaRPr dirty="0" sz="1400" lang="en-US"/>
          </a:p>
        </p:txBody>
      </p:sp>
      <p:sp>
        <p:nvSpPr>
          <p:cNvPr id="1048732" name="Text 7"/>
          <p:cNvSpPr txBox="1"/>
          <p:nvPr/>
        </p:nvSpPr>
        <p:spPr>
          <a:xfrm>
            <a:off x="548640" y="2606040"/>
            <a:ext cx="822960" cy="6400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3400" lang="en-US">
                <a:solidFill>
                  <a:srgbClr val="5B8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dirty="0" sz="3400" lang="en-US"/>
          </a:p>
        </p:txBody>
      </p:sp>
      <p:sp>
        <p:nvSpPr>
          <p:cNvPr id="1048733" name="Text 8"/>
          <p:cNvSpPr txBox="1"/>
          <p:nvPr/>
        </p:nvSpPr>
        <p:spPr>
          <a:xfrm>
            <a:off x="1371600" y="2624328"/>
            <a:ext cx="6858000" cy="2743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700" lang="en-US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Classifier output</a:t>
            </a:r>
            <a:endParaRPr dirty="0" sz="1700" lang="en-US"/>
          </a:p>
        </p:txBody>
      </p:sp>
      <p:sp>
        <p:nvSpPr>
          <p:cNvPr id="1048734" name="Text 9"/>
          <p:cNvSpPr txBox="1"/>
          <p:nvPr/>
        </p:nvSpPr>
        <p:spPr>
          <a:xfrm>
            <a:off x="1371600" y="2971800"/>
            <a:ext cx="6858000" cy="54864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6B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CNN returns a pest probability, not just yes or no.</a:t>
            </a:r>
            <a:endParaRPr dirty="0" sz="1400" lang="en-US"/>
          </a:p>
        </p:txBody>
      </p:sp>
      <p:sp>
        <p:nvSpPr>
          <p:cNvPr id="1048735" name="Text 10"/>
          <p:cNvSpPr txBox="1"/>
          <p:nvPr/>
        </p:nvSpPr>
        <p:spPr>
          <a:xfrm>
            <a:off x="548640" y="3611880"/>
            <a:ext cx="822960" cy="6400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3400" lang="en-US">
                <a:solidFill>
                  <a:srgbClr val="5B8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dirty="0" sz="3400" lang="en-US"/>
          </a:p>
        </p:txBody>
      </p:sp>
      <p:sp>
        <p:nvSpPr>
          <p:cNvPr id="1048736" name="Text 11"/>
          <p:cNvSpPr txBox="1"/>
          <p:nvPr/>
        </p:nvSpPr>
        <p:spPr>
          <a:xfrm>
            <a:off x="1371600" y="3630168"/>
            <a:ext cx="6858000" cy="2743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700" lang="en-US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Heuristic for search</a:t>
            </a:r>
            <a:endParaRPr dirty="0" sz="1700" lang="en-US"/>
          </a:p>
        </p:txBody>
      </p:sp>
      <p:sp>
        <p:nvSpPr>
          <p:cNvPr id="1048737" name="Text 12"/>
          <p:cNvSpPr txBox="1"/>
          <p:nvPr/>
        </p:nvSpPr>
        <p:spPr>
          <a:xfrm>
            <a:off x="1371600" y="3977640"/>
            <a:ext cx="6858000" cy="54864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6B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probability tells Greedy and A* which neighbor looks most promising.</a:t>
            </a:r>
            <a:endParaRPr dirty="0" sz="1400"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1E4"/>
        </a:solidFill>
      </p:bgPr>
    </p:bg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1" name="Text 0"/>
          <p:cNvSpPr txBox="1"/>
          <p:nvPr/>
        </p:nvSpPr>
        <p:spPr>
          <a:xfrm>
            <a:off x="548640" y="347472"/>
            <a:ext cx="4572000" cy="2286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100" kern="0" lang="en-US" spc="300">
                <a:solidFill>
                  <a:srgbClr val="D98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THE ALGORITHMS</a:t>
            </a:r>
            <a:endParaRPr dirty="0" sz="1100" lang="en-US"/>
          </a:p>
        </p:txBody>
      </p:sp>
      <p:sp>
        <p:nvSpPr>
          <p:cNvPr id="1048742" name="Text 1"/>
          <p:cNvSpPr txBox="1"/>
          <p:nvPr/>
        </p:nvSpPr>
        <p:spPr>
          <a:xfrm>
            <a:off x="548640" y="594360"/>
            <a:ext cx="8046720" cy="6400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3000" lang="en-US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searches, one farm</a:t>
            </a:r>
            <a:endParaRPr dirty="0" sz="3000" lang="en-US"/>
          </a:p>
        </p:txBody>
      </p:sp>
      <p:sp>
        <p:nvSpPr>
          <p:cNvPr id="1048743" name="Shape 2"/>
          <p:cNvSpPr/>
          <p:nvPr/>
        </p:nvSpPr>
        <p:spPr>
          <a:xfrm>
            <a:off x="548640" y="1280160"/>
            <a:ext cx="640080" cy="45720"/>
          </a:xfrm>
          <a:prstGeom prst="rect"/>
          <a:solidFill>
            <a:srgbClr val="D98E2B"/>
          </a:solidFill>
          <a:ln w="12700">
            <a:solidFill>
              <a:srgbClr val="D98E2B"/>
            </a:solidFill>
            <a:prstDash val="solid"/>
          </a:ln>
        </p:spPr>
      </p:sp>
      <p:sp>
        <p:nvSpPr>
          <p:cNvPr id="1048744" name="Text 3"/>
          <p:cNvSpPr txBox="1"/>
          <p:nvPr/>
        </p:nvSpPr>
        <p:spPr>
          <a:xfrm>
            <a:off x="8138160" y="4663440"/>
            <a:ext cx="457200" cy="228600"/>
          </a:xfrm>
          <a:prstGeom prst="rect"/>
          <a:noFill/>
        </p:spPr>
        <p:txBody>
          <a:bodyPr anchor="t" bIns="0" lIns="0" rIns="0" rtlCol="0" tIns="0" wrap="square"/>
          <a:p>
            <a:pPr algn="r" indent="0" marL="0">
              <a:buNone/>
            </a:pPr>
            <a:r>
              <a:rPr dirty="0" sz="1100" lang="en-US">
                <a:solidFill>
                  <a:srgbClr val="6B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dirty="0" sz="1100" lang="en-US"/>
          </a:p>
        </p:txBody>
      </p:sp>
      <p:sp>
        <p:nvSpPr>
          <p:cNvPr id="1048745" name="Shape 4"/>
          <p:cNvSpPr/>
          <p:nvPr/>
        </p:nvSpPr>
        <p:spPr>
          <a:xfrm>
            <a:off x="548640" y="1645920"/>
            <a:ext cx="1920240" cy="2834640"/>
          </a:xfrm>
          <a:prstGeom prst="rect"/>
          <a:solidFill>
            <a:srgbClr val="FFFFFF"/>
          </a:solidFill>
          <a:ln w="12700">
            <a:solidFill>
              <a:srgbClr val="D9D2BD"/>
            </a:solidFill>
            <a:prstDash val="solid"/>
          </a:ln>
        </p:spPr>
      </p:sp>
      <p:sp>
        <p:nvSpPr>
          <p:cNvPr id="1048746" name="Shape 5"/>
          <p:cNvSpPr/>
          <p:nvPr/>
        </p:nvSpPr>
        <p:spPr>
          <a:xfrm>
            <a:off x="548640" y="1645920"/>
            <a:ext cx="1920240" cy="82296"/>
          </a:xfrm>
          <a:prstGeom prst="rect"/>
          <a:solidFill>
            <a:srgbClr val="6B7468"/>
          </a:solidFill>
          <a:ln w="12700">
            <a:solidFill>
              <a:srgbClr val="6B7468"/>
            </a:solidFill>
            <a:prstDash val="solid"/>
          </a:ln>
        </p:spPr>
      </p:sp>
      <p:sp>
        <p:nvSpPr>
          <p:cNvPr id="1048747" name="Text 6"/>
          <p:cNvSpPr txBox="1"/>
          <p:nvPr/>
        </p:nvSpPr>
        <p:spPr>
          <a:xfrm>
            <a:off x="731520" y="1920240"/>
            <a:ext cx="1554480" cy="3657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2200" lang="en-US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BFS</a:t>
            </a:r>
            <a:endParaRPr dirty="0" sz="2200" lang="en-US"/>
          </a:p>
        </p:txBody>
      </p:sp>
      <p:sp>
        <p:nvSpPr>
          <p:cNvPr id="1048748" name="Text 7"/>
          <p:cNvSpPr txBox="1"/>
          <p:nvPr/>
        </p:nvSpPr>
        <p:spPr>
          <a:xfrm>
            <a:off x="731520" y="2468880"/>
            <a:ext cx="1554480" cy="9144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250" lang="en-US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layer by layer around the start.</a:t>
            </a:r>
            <a:endParaRPr dirty="0" sz="1250" lang="en-US"/>
          </a:p>
        </p:txBody>
      </p:sp>
      <p:sp>
        <p:nvSpPr>
          <p:cNvPr id="1048749" name="Text 8"/>
          <p:cNvSpPr txBox="1"/>
          <p:nvPr/>
        </p:nvSpPr>
        <p:spPr>
          <a:xfrm>
            <a:off x="731520" y="3520440"/>
            <a:ext cx="1554480" cy="8229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200" i="1" lang="en-US">
                <a:solidFill>
                  <a:srgbClr val="6B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Thorough, but wastes time on healthy areas.</a:t>
            </a:r>
            <a:endParaRPr dirty="0" sz="1200" lang="en-US"/>
          </a:p>
        </p:txBody>
      </p:sp>
      <p:sp>
        <p:nvSpPr>
          <p:cNvPr id="1048750" name="Shape 9"/>
          <p:cNvSpPr/>
          <p:nvPr/>
        </p:nvSpPr>
        <p:spPr>
          <a:xfrm>
            <a:off x="2633472" y="1645920"/>
            <a:ext cx="1920240" cy="2834640"/>
          </a:xfrm>
          <a:prstGeom prst="rect"/>
          <a:solidFill>
            <a:srgbClr val="FFFFFF"/>
          </a:solidFill>
          <a:ln w="12700">
            <a:solidFill>
              <a:srgbClr val="D9D2BD"/>
            </a:solidFill>
            <a:prstDash val="solid"/>
          </a:ln>
        </p:spPr>
      </p:sp>
      <p:sp>
        <p:nvSpPr>
          <p:cNvPr id="1048751" name="Shape 10"/>
          <p:cNvSpPr/>
          <p:nvPr/>
        </p:nvSpPr>
        <p:spPr>
          <a:xfrm>
            <a:off x="2633472" y="1645920"/>
            <a:ext cx="1920240" cy="82296"/>
          </a:xfrm>
          <a:prstGeom prst="rect"/>
          <a:solidFill>
            <a:srgbClr val="6B7468"/>
          </a:solidFill>
          <a:ln w="12700">
            <a:solidFill>
              <a:srgbClr val="6B7468"/>
            </a:solidFill>
            <a:prstDash val="solid"/>
          </a:ln>
        </p:spPr>
      </p:sp>
      <p:sp>
        <p:nvSpPr>
          <p:cNvPr id="1048752" name="Text 11"/>
          <p:cNvSpPr txBox="1"/>
          <p:nvPr/>
        </p:nvSpPr>
        <p:spPr>
          <a:xfrm>
            <a:off x="2816352" y="1920240"/>
            <a:ext cx="1554480" cy="3657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2200" lang="en-US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DFS</a:t>
            </a:r>
            <a:endParaRPr dirty="0" sz="2200" lang="en-US"/>
          </a:p>
        </p:txBody>
      </p:sp>
      <p:sp>
        <p:nvSpPr>
          <p:cNvPr id="1048753" name="Text 12"/>
          <p:cNvSpPr txBox="1"/>
          <p:nvPr/>
        </p:nvSpPr>
        <p:spPr>
          <a:xfrm>
            <a:off x="2816352" y="2468880"/>
            <a:ext cx="1554480" cy="9144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250" lang="en-US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Goes deep in one direction first.</a:t>
            </a:r>
            <a:endParaRPr dirty="0" sz="1250" lang="en-US"/>
          </a:p>
        </p:txBody>
      </p:sp>
      <p:sp>
        <p:nvSpPr>
          <p:cNvPr id="1048754" name="Text 13"/>
          <p:cNvSpPr txBox="1"/>
          <p:nvPr/>
        </p:nvSpPr>
        <p:spPr>
          <a:xfrm>
            <a:off x="2816352" y="3520440"/>
            <a:ext cx="1554480" cy="8229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200" i="1" lang="en-US">
                <a:solidFill>
                  <a:srgbClr val="6B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get lucky or wander far away.</a:t>
            </a:r>
            <a:endParaRPr dirty="0" sz="1200" lang="en-US"/>
          </a:p>
        </p:txBody>
      </p:sp>
      <p:sp>
        <p:nvSpPr>
          <p:cNvPr id="1048755" name="Shape 14"/>
          <p:cNvSpPr/>
          <p:nvPr/>
        </p:nvSpPr>
        <p:spPr>
          <a:xfrm>
            <a:off x="4718304" y="1645920"/>
            <a:ext cx="1920240" cy="2834640"/>
          </a:xfrm>
          <a:prstGeom prst="rect"/>
          <a:solidFill>
            <a:srgbClr val="FFFFFF"/>
          </a:solidFill>
          <a:ln w="12700">
            <a:solidFill>
              <a:srgbClr val="D9D2BD"/>
            </a:solidFill>
            <a:prstDash val="solid"/>
          </a:ln>
        </p:spPr>
      </p:sp>
      <p:sp>
        <p:nvSpPr>
          <p:cNvPr id="1048756" name="Shape 15"/>
          <p:cNvSpPr/>
          <p:nvPr/>
        </p:nvSpPr>
        <p:spPr>
          <a:xfrm>
            <a:off x="4718304" y="1645920"/>
            <a:ext cx="1920240" cy="82296"/>
          </a:xfrm>
          <a:prstGeom prst="rect"/>
          <a:solidFill>
            <a:srgbClr val="5B8C3A"/>
          </a:solidFill>
          <a:ln w="12700">
            <a:solidFill>
              <a:srgbClr val="5B8C3A"/>
            </a:solidFill>
            <a:prstDash val="solid"/>
          </a:ln>
        </p:spPr>
      </p:sp>
      <p:sp>
        <p:nvSpPr>
          <p:cNvPr id="1048757" name="Text 16"/>
          <p:cNvSpPr txBox="1"/>
          <p:nvPr/>
        </p:nvSpPr>
        <p:spPr>
          <a:xfrm>
            <a:off x="4901184" y="1920240"/>
            <a:ext cx="1554480" cy="3657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2200" lang="en-US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Greedy</a:t>
            </a:r>
            <a:endParaRPr dirty="0" sz="2200" lang="en-US"/>
          </a:p>
        </p:txBody>
      </p:sp>
      <p:sp>
        <p:nvSpPr>
          <p:cNvPr id="1048758" name="Text 17"/>
          <p:cNvSpPr txBox="1"/>
          <p:nvPr/>
        </p:nvSpPr>
        <p:spPr>
          <a:xfrm>
            <a:off x="4901184" y="2468880"/>
            <a:ext cx="1554480" cy="9144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250" lang="en-US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to the neighbor with the highest pest probability.</a:t>
            </a:r>
            <a:endParaRPr dirty="0" sz="1250" lang="en-US"/>
          </a:p>
        </p:txBody>
      </p:sp>
      <p:sp>
        <p:nvSpPr>
          <p:cNvPr id="1048759" name="Text 18"/>
          <p:cNvSpPr txBox="1"/>
          <p:nvPr/>
        </p:nvSpPr>
        <p:spPr>
          <a:xfrm>
            <a:off x="4901184" y="3520440"/>
            <a:ext cx="1554480" cy="8229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200" i="1" lang="en-US">
                <a:solidFill>
                  <a:srgbClr val="6B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but can be misled.</a:t>
            </a:r>
            <a:endParaRPr dirty="0" sz="1200" lang="en-US"/>
          </a:p>
        </p:txBody>
      </p:sp>
      <p:sp>
        <p:nvSpPr>
          <p:cNvPr id="1048760" name="Shape 19"/>
          <p:cNvSpPr/>
          <p:nvPr/>
        </p:nvSpPr>
        <p:spPr>
          <a:xfrm>
            <a:off x="6803136" y="1645920"/>
            <a:ext cx="1920240" cy="2834640"/>
          </a:xfrm>
          <a:prstGeom prst="rect"/>
          <a:solidFill>
            <a:srgbClr val="FFFFFF"/>
          </a:solidFill>
          <a:ln w="12700">
            <a:solidFill>
              <a:srgbClr val="D9D2BD"/>
            </a:solidFill>
            <a:prstDash val="solid"/>
          </a:ln>
        </p:spPr>
      </p:sp>
      <p:sp>
        <p:nvSpPr>
          <p:cNvPr id="1048761" name="Shape 20"/>
          <p:cNvSpPr/>
          <p:nvPr/>
        </p:nvSpPr>
        <p:spPr>
          <a:xfrm>
            <a:off x="6803136" y="1645920"/>
            <a:ext cx="1920240" cy="82296"/>
          </a:xfrm>
          <a:prstGeom prst="rect"/>
          <a:solidFill>
            <a:srgbClr val="D98E2B"/>
          </a:solidFill>
          <a:ln w="12700">
            <a:solidFill>
              <a:srgbClr val="D98E2B"/>
            </a:solidFill>
            <a:prstDash val="solid"/>
          </a:ln>
        </p:spPr>
      </p:sp>
      <p:sp>
        <p:nvSpPr>
          <p:cNvPr id="1048762" name="Text 21"/>
          <p:cNvSpPr txBox="1"/>
          <p:nvPr/>
        </p:nvSpPr>
        <p:spPr>
          <a:xfrm>
            <a:off x="6986016" y="1920240"/>
            <a:ext cx="1554480" cy="3657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2200" lang="en-US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A*</a:t>
            </a:r>
            <a:endParaRPr dirty="0" sz="2200" lang="en-US"/>
          </a:p>
        </p:txBody>
      </p:sp>
      <p:sp>
        <p:nvSpPr>
          <p:cNvPr id="1048763" name="Text 22"/>
          <p:cNvSpPr txBox="1"/>
          <p:nvPr/>
        </p:nvSpPr>
        <p:spPr>
          <a:xfrm>
            <a:off x="6986016" y="2468880"/>
            <a:ext cx="1554480" cy="9144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250" lang="en-US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cost so far with the pest probability.</a:t>
            </a:r>
            <a:endParaRPr dirty="0" sz="1250" lang="en-US"/>
          </a:p>
        </p:txBody>
      </p:sp>
      <p:sp>
        <p:nvSpPr>
          <p:cNvPr id="1048764" name="Text 23"/>
          <p:cNvSpPr txBox="1"/>
          <p:nvPr/>
        </p:nvSpPr>
        <p:spPr>
          <a:xfrm>
            <a:off x="6986016" y="3520440"/>
            <a:ext cx="1554480" cy="8229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200" i="1" lang="en-US">
                <a:solidFill>
                  <a:srgbClr val="6B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 speed and efficiency.</a:t>
            </a:r>
            <a:endParaRPr dirty="0" sz="1200"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1E4"/>
        </a:solidFill>
      </p:bgPr>
    </p:bg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8" name="Text 0"/>
          <p:cNvSpPr txBox="1"/>
          <p:nvPr/>
        </p:nvSpPr>
        <p:spPr>
          <a:xfrm>
            <a:off x="548640" y="347472"/>
            <a:ext cx="4572000" cy="2286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100" kern="0" lang="en-US" spc="300">
                <a:solidFill>
                  <a:srgbClr val="D98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THE AGENT</a:t>
            </a:r>
            <a:endParaRPr dirty="0" sz="1100" lang="en-US"/>
          </a:p>
        </p:txBody>
      </p:sp>
      <p:sp>
        <p:nvSpPr>
          <p:cNvPr id="1048769" name="Text 1"/>
          <p:cNvSpPr txBox="1"/>
          <p:nvPr/>
        </p:nvSpPr>
        <p:spPr>
          <a:xfrm>
            <a:off x="548640" y="594360"/>
            <a:ext cx="8046720" cy="6400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3000" lang="en-US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PEAS description</a:t>
            </a:r>
            <a:endParaRPr dirty="0" sz="3000" lang="en-US"/>
          </a:p>
        </p:txBody>
      </p:sp>
      <p:sp>
        <p:nvSpPr>
          <p:cNvPr id="1048770" name="Shape 2"/>
          <p:cNvSpPr/>
          <p:nvPr/>
        </p:nvSpPr>
        <p:spPr>
          <a:xfrm>
            <a:off x="548640" y="1280160"/>
            <a:ext cx="640080" cy="45720"/>
          </a:xfrm>
          <a:prstGeom prst="rect"/>
          <a:solidFill>
            <a:srgbClr val="D98E2B"/>
          </a:solidFill>
          <a:ln w="12700">
            <a:solidFill>
              <a:srgbClr val="D98E2B"/>
            </a:solidFill>
            <a:prstDash val="solid"/>
          </a:ln>
        </p:spPr>
      </p:sp>
      <p:sp>
        <p:nvSpPr>
          <p:cNvPr id="1048771" name="Text 3"/>
          <p:cNvSpPr txBox="1"/>
          <p:nvPr/>
        </p:nvSpPr>
        <p:spPr>
          <a:xfrm>
            <a:off x="8138160" y="4663440"/>
            <a:ext cx="457200" cy="228600"/>
          </a:xfrm>
          <a:prstGeom prst="rect"/>
          <a:noFill/>
        </p:spPr>
        <p:txBody>
          <a:bodyPr anchor="t" bIns="0" lIns="0" rIns="0" rtlCol="0" tIns="0" wrap="square"/>
          <a:p>
            <a:pPr algn="r" indent="0" marL="0">
              <a:buNone/>
            </a:pPr>
            <a:r>
              <a:rPr dirty="0" sz="1100" lang="en-US">
                <a:solidFill>
                  <a:srgbClr val="6B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dirty="0" sz="1100" lang="en-US"/>
          </a:p>
        </p:txBody>
      </p:sp>
      <p:sp>
        <p:nvSpPr>
          <p:cNvPr id="1048772" name="Text 4"/>
          <p:cNvSpPr txBox="1"/>
          <p:nvPr/>
        </p:nvSpPr>
        <p:spPr>
          <a:xfrm>
            <a:off x="548640" y="1600200"/>
            <a:ext cx="640080" cy="7315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4000" lang="en-US">
                <a:solidFill>
                  <a:srgbClr val="5B8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</a:t>
            </a:r>
            <a:endParaRPr dirty="0" sz="4000" lang="en-US"/>
          </a:p>
        </p:txBody>
      </p:sp>
      <p:sp>
        <p:nvSpPr>
          <p:cNvPr id="1048773" name="Text 5"/>
          <p:cNvSpPr txBox="1"/>
          <p:nvPr/>
        </p:nvSpPr>
        <p:spPr>
          <a:xfrm>
            <a:off x="1280160" y="1645920"/>
            <a:ext cx="3108960" cy="2743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600" lang="en-US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</a:t>
            </a:r>
            <a:endParaRPr dirty="0" sz="1600" lang="en-US"/>
          </a:p>
        </p:txBody>
      </p:sp>
      <p:sp>
        <p:nvSpPr>
          <p:cNvPr id="1048774" name="Text 6"/>
          <p:cNvSpPr txBox="1"/>
          <p:nvPr/>
        </p:nvSpPr>
        <p:spPr>
          <a:xfrm>
            <a:off x="1280160" y="2011680"/>
            <a:ext cx="3108960" cy="7315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300" lang="en-US">
                <a:solidFill>
                  <a:srgbClr val="6B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to find pests, pests found, distance travelled</a:t>
            </a:r>
            <a:endParaRPr dirty="0" sz="1300" lang="en-US"/>
          </a:p>
        </p:txBody>
      </p:sp>
      <p:sp>
        <p:nvSpPr>
          <p:cNvPr id="1048775" name="Text 7"/>
          <p:cNvSpPr txBox="1"/>
          <p:nvPr/>
        </p:nvSpPr>
        <p:spPr>
          <a:xfrm>
            <a:off x="4663440" y="1600200"/>
            <a:ext cx="640080" cy="7315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4000" lang="en-US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endParaRPr dirty="0" sz="4000" lang="en-US"/>
          </a:p>
        </p:txBody>
      </p:sp>
      <p:sp>
        <p:nvSpPr>
          <p:cNvPr id="1048776" name="Text 8"/>
          <p:cNvSpPr txBox="1"/>
          <p:nvPr/>
        </p:nvSpPr>
        <p:spPr>
          <a:xfrm>
            <a:off x="5394960" y="1645920"/>
            <a:ext cx="3108960" cy="2743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600" lang="en-US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Environment</a:t>
            </a:r>
            <a:endParaRPr dirty="0" sz="1600" lang="en-US"/>
          </a:p>
        </p:txBody>
      </p:sp>
      <p:sp>
        <p:nvSpPr>
          <p:cNvPr id="1048777" name="Text 9"/>
          <p:cNvSpPr txBox="1"/>
          <p:nvPr/>
        </p:nvSpPr>
        <p:spPr>
          <a:xfrm>
            <a:off x="5394960" y="2011680"/>
            <a:ext cx="3108960" cy="7315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300" lang="en-US">
                <a:solidFill>
                  <a:srgbClr val="6B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farm grid with hidden infested plants</a:t>
            </a:r>
            <a:endParaRPr dirty="0" sz="1300" lang="en-US"/>
          </a:p>
        </p:txBody>
      </p:sp>
      <p:sp>
        <p:nvSpPr>
          <p:cNvPr id="1048778" name="Text 10"/>
          <p:cNvSpPr txBox="1"/>
          <p:nvPr/>
        </p:nvSpPr>
        <p:spPr>
          <a:xfrm>
            <a:off x="548640" y="2880360"/>
            <a:ext cx="640080" cy="7315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4000" lang="en-US">
                <a:solidFill>
                  <a:srgbClr val="D98E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dirty="0" sz="4000" lang="en-US"/>
          </a:p>
        </p:txBody>
      </p:sp>
      <p:sp>
        <p:nvSpPr>
          <p:cNvPr id="1048779" name="Text 11"/>
          <p:cNvSpPr txBox="1"/>
          <p:nvPr/>
        </p:nvSpPr>
        <p:spPr>
          <a:xfrm>
            <a:off x="1280160" y="2926080"/>
            <a:ext cx="3108960" cy="2743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600" lang="en-US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Actuators</a:t>
            </a:r>
            <a:endParaRPr dirty="0" sz="1600" lang="en-US"/>
          </a:p>
        </p:txBody>
      </p:sp>
      <p:sp>
        <p:nvSpPr>
          <p:cNvPr id="1048780" name="Text 12"/>
          <p:cNvSpPr txBox="1"/>
          <p:nvPr/>
        </p:nvSpPr>
        <p:spPr>
          <a:xfrm>
            <a:off x="1280160" y="3291840"/>
            <a:ext cx="3108960" cy="7315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300" lang="en-US">
                <a:solidFill>
                  <a:srgbClr val="6B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to a neighbor and take a photo</a:t>
            </a:r>
            <a:endParaRPr dirty="0" sz="1300" lang="en-US"/>
          </a:p>
        </p:txBody>
      </p:sp>
      <p:sp>
        <p:nvSpPr>
          <p:cNvPr id="1048781" name="Text 13"/>
          <p:cNvSpPr txBox="1"/>
          <p:nvPr/>
        </p:nvSpPr>
        <p:spPr>
          <a:xfrm>
            <a:off x="4663440" y="2880360"/>
            <a:ext cx="640080" cy="7315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4000" lang="en-US">
                <a:solidFill>
                  <a:srgbClr val="B54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dirty="0" sz="4000" lang="en-US"/>
          </a:p>
        </p:txBody>
      </p:sp>
      <p:sp>
        <p:nvSpPr>
          <p:cNvPr id="1048782" name="Text 14"/>
          <p:cNvSpPr txBox="1"/>
          <p:nvPr/>
        </p:nvSpPr>
        <p:spPr>
          <a:xfrm>
            <a:off x="5394960" y="2926080"/>
            <a:ext cx="3108960" cy="2743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600" lang="en-US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Sensors</a:t>
            </a:r>
            <a:endParaRPr dirty="0" sz="1600" lang="en-US"/>
          </a:p>
        </p:txBody>
      </p:sp>
      <p:sp>
        <p:nvSpPr>
          <p:cNvPr id="1048783" name="Text 15"/>
          <p:cNvSpPr txBox="1"/>
          <p:nvPr/>
        </p:nvSpPr>
        <p:spPr>
          <a:xfrm>
            <a:off x="5394960" y="3291840"/>
            <a:ext cx="3108960" cy="7315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300" lang="en-US">
                <a:solidFill>
                  <a:srgbClr val="6B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image and the classifier's pest probability</a:t>
            </a:r>
            <a:endParaRPr dirty="0" sz="1300" lang="en-US"/>
          </a:p>
        </p:txBody>
      </p:sp>
      <p:sp>
        <p:nvSpPr>
          <p:cNvPr id="1048784" name="Shape 16"/>
          <p:cNvSpPr/>
          <p:nvPr/>
        </p:nvSpPr>
        <p:spPr>
          <a:xfrm>
            <a:off x="548640" y="4160520"/>
            <a:ext cx="8046720" cy="457200"/>
          </a:xfrm>
          <a:prstGeom prst="roundRect">
            <a:avLst>
              <a:gd name="adj" fmla="val 16000"/>
            </a:avLst>
          </a:prstGeom>
          <a:solidFill>
            <a:srgbClr val="DDE8C8"/>
          </a:solidFill>
          <a:ln w="12700">
            <a:solidFill>
              <a:srgbClr val="DDE8C8"/>
            </a:solidFill>
            <a:prstDash val="solid"/>
          </a:ln>
        </p:spPr>
      </p:sp>
      <p:sp>
        <p:nvSpPr>
          <p:cNvPr id="1048785" name="Text 17"/>
          <p:cNvSpPr txBox="1"/>
          <p:nvPr/>
        </p:nvSpPr>
        <p:spPr>
          <a:xfrm>
            <a:off x="548640" y="4160520"/>
            <a:ext cx="804672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1300" i="1" lang="en-US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Partially observable · Sequential · Uncertain classifier</a:t>
            </a:r>
            <a:endParaRPr dirty="0" sz="1300"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1E4"/>
        </a:solidFill>
      </p:bgPr>
    </p:bg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9" name="Text 0"/>
          <p:cNvSpPr txBox="1"/>
          <p:nvPr/>
        </p:nvSpPr>
        <p:spPr>
          <a:xfrm>
            <a:off x="548640" y="347472"/>
            <a:ext cx="4572000" cy="2286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100" kern="0" lang="en-US" spc="300">
                <a:solidFill>
                  <a:srgbClr val="D98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RISKS</a:t>
            </a:r>
            <a:endParaRPr dirty="0" sz="1100" lang="en-US"/>
          </a:p>
        </p:txBody>
      </p:sp>
      <p:sp>
        <p:nvSpPr>
          <p:cNvPr id="1048790" name="Text 1"/>
          <p:cNvSpPr txBox="1"/>
          <p:nvPr/>
        </p:nvSpPr>
        <p:spPr>
          <a:xfrm>
            <a:off x="548640" y="594360"/>
            <a:ext cx="8046720" cy="6400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3000" lang="en-US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can go wrong</a:t>
            </a:r>
            <a:endParaRPr dirty="0" sz="3000" lang="en-US"/>
          </a:p>
        </p:txBody>
      </p:sp>
      <p:sp>
        <p:nvSpPr>
          <p:cNvPr id="1048791" name="Shape 2"/>
          <p:cNvSpPr/>
          <p:nvPr/>
        </p:nvSpPr>
        <p:spPr>
          <a:xfrm>
            <a:off x="548640" y="1280160"/>
            <a:ext cx="640080" cy="45720"/>
          </a:xfrm>
          <a:prstGeom prst="rect"/>
          <a:solidFill>
            <a:srgbClr val="D98E2B"/>
          </a:solidFill>
          <a:ln w="12700">
            <a:solidFill>
              <a:srgbClr val="D98E2B"/>
            </a:solidFill>
            <a:prstDash val="solid"/>
          </a:ln>
        </p:spPr>
      </p:sp>
      <p:sp>
        <p:nvSpPr>
          <p:cNvPr id="1048792" name="Text 3"/>
          <p:cNvSpPr txBox="1"/>
          <p:nvPr/>
        </p:nvSpPr>
        <p:spPr>
          <a:xfrm>
            <a:off x="8138160" y="4663440"/>
            <a:ext cx="457200" cy="228600"/>
          </a:xfrm>
          <a:prstGeom prst="rect"/>
          <a:noFill/>
        </p:spPr>
        <p:txBody>
          <a:bodyPr anchor="t" bIns="0" lIns="0" rIns="0" rtlCol="0" tIns="0" wrap="square"/>
          <a:p>
            <a:pPr algn="r" indent="0" marL="0">
              <a:buNone/>
            </a:pPr>
            <a:r>
              <a:rPr dirty="0" sz="1100" lang="en-US">
                <a:solidFill>
                  <a:srgbClr val="6B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dirty="0" sz="1100" lang="en-US"/>
          </a:p>
        </p:txBody>
      </p:sp>
      <p:sp>
        <p:nvSpPr>
          <p:cNvPr id="1048793" name="Shape 4"/>
          <p:cNvSpPr/>
          <p:nvPr/>
        </p:nvSpPr>
        <p:spPr>
          <a:xfrm>
            <a:off x="548640" y="1645920"/>
            <a:ext cx="2560320" cy="2834640"/>
          </a:xfrm>
          <a:prstGeom prst="rect"/>
          <a:solidFill>
            <a:srgbClr val="FFFFFF"/>
          </a:solidFill>
          <a:ln w="12700">
            <a:solidFill>
              <a:srgbClr val="D9D2BD"/>
            </a:solidFill>
            <a:prstDash val="solid"/>
          </a:ln>
        </p:spPr>
      </p:sp>
      <p:sp>
        <p:nvSpPr>
          <p:cNvPr id="1048794" name="Shape 5"/>
          <p:cNvSpPr/>
          <p:nvPr/>
        </p:nvSpPr>
        <p:spPr>
          <a:xfrm>
            <a:off x="548640" y="1645920"/>
            <a:ext cx="2560320" cy="82296"/>
          </a:xfrm>
          <a:prstGeom prst="rect"/>
          <a:solidFill>
            <a:srgbClr val="D98E2B"/>
          </a:solidFill>
          <a:ln w="12700">
            <a:solidFill>
              <a:srgbClr val="D98E2B"/>
            </a:solidFill>
            <a:prstDash val="solid"/>
          </a:ln>
        </p:spPr>
      </p:sp>
      <p:sp>
        <p:nvSpPr>
          <p:cNvPr id="1048795" name="Text 6"/>
          <p:cNvSpPr txBox="1"/>
          <p:nvPr/>
        </p:nvSpPr>
        <p:spPr>
          <a:xfrm>
            <a:off x="777240" y="1965960"/>
            <a:ext cx="2103120" cy="54864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700" lang="en-US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Wrong classifier result</a:t>
            </a:r>
            <a:endParaRPr dirty="0" sz="1700" lang="en-US"/>
          </a:p>
        </p:txBody>
      </p:sp>
      <p:sp>
        <p:nvSpPr>
          <p:cNvPr id="1048796" name="Text 7"/>
          <p:cNvSpPr txBox="1"/>
          <p:nvPr/>
        </p:nvSpPr>
        <p:spPr>
          <a:xfrm>
            <a:off x="777240" y="2606040"/>
            <a:ext cx="2103120" cy="54864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300" lang="en-US">
                <a:solidFill>
                  <a:srgbClr val="6B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false alarm or a missed pest.</a:t>
            </a:r>
            <a:endParaRPr dirty="0" sz="1300" lang="en-US"/>
          </a:p>
        </p:txBody>
      </p:sp>
      <p:sp>
        <p:nvSpPr>
          <p:cNvPr id="1048797" name="Text 8"/>
          <p:cNvSpPr txBox="1"/>
          <p:nvPr/>
        </p:nvSpPr>
        <p:spPr>
          <a:xfrm>
            <a:off x="777240" y="3291840"/>
            <a:ext cx="2103120" cy="2286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000" kern="0" lang="en-US" spc="300">
                <a:solidFill>
                  <a:srgbClr val="D98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dirty="0" sz="1000" lang="en-US"/>
          </a:p>
        </p:txBody>
      </p:sp>
      <p:sp>
        <p:nvSpPr>
          <p:cNvPr id="1048798" name="Text 9"/>
          <p:cNvSpPr txBox="1"/>
          <p:nvPr/>
        </p:nvSpPr>
        <p:spPr>
          <a:xfrm>
            <a:off x="777240" y="3566160"/>
            <a:ext cx="2103120" cy="8229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300" lang="en-US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confidence threshold and recheck low scores.</a:t>
            </a:r>
            <a:endParaRPr dirty="0" sz="1300" lang="en-US"/>
          </a:p>
        </p:txBody>
      </p:sp>
      <p:sp>
        <p:nvSpPr>
          <p:cNvPr id="1048799" name="Shape 10"/>
          <p:cNvSpPr/>
          <p:nvPr/>
        </p:nvSpPr>
        <p:spPr>
          <a:xfrm>
            <a:off x="3337560" y="1645920"/>
            <a:ext cx="2560320" cy="2834640"/>
          </a:xfrm>
          <a:prstGeom prst="rect"/>
          <a:solidFill>
            <a:srgbClr val="FFFFFF"/>
          </a:solidFill>
          <a:ln w="12700">
            <a:solidFill>
              <a:srgbClr val="D9D2BD"/>
            </a:solidFill>
            <a:prstDash val="solid"/>
          </a:ln>
        </p:spPr>
      </p:sp>
      <p:sp>
        <p:nvSpPr>
          <p:cNvPr id="1048800" name="Shape 11"/>
          <p:cNvSpPr/>
          <p:nvPr/>
        </p:nvSpPr>
        <p:spPr>
          <a:xfrm>
            <a:off x="3337560" y="1645920"/>
            <a:ext cx="2560320" cy="82296"/>
          </a:xfrm>
          <a:prstGeom prst="rect"/>
          <a:solidFill>
            <a:srgbClr val="B5462F"/>
          </a:solidFill>
          <a:ln w="12700">
            <a:solidFill>
              <a:srgbClr val="B5462F"/>
            </a:solidFill>
            <a:prstDash val="solid"/>
          </a:ln>
        </p:spPr>
      </p:sp>
      <p:sp>
        <p:nvSpPr>
          <p:cNvPr id="1048801" name="Text 12"/>
          <p:cNvSpPr txBox="1"/>
          <p:nvPr/>
        </p:nvSpPr>
        <p:spPr>
          <a:xfrm>
            <a:off x="3566160" y="1965960"/>
            <a:ext cx="2103120" cy="54864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700" lang="en-US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Pests spread</a:t>
            </a:r>
            <a:endParaRPr dirty="0" sz="1700" lang="en-US"/>
          </a:p>
        </p:txBody>
      </p:sp>
      <p:sp>
        <p:nvSpPr>
          <p:cNvPr id="1048802" name="Text 13"/>
          <p:cNvSpPr txBox="1"/>
          <p:nvPr/>
        </p:nvSpPr>
        <p:spPr>
          <a:xfrm>
            <a:off x="3566160" y="2606040"/>
            <a:ext cx="2103120" cy="54864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300" lang="en-US">
                <a:solidFill>
                  <a:srgbClr val="6B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infestation grows while we search.</a:t>
            </a:r>
            <a:endParaRPr dirty="0" sz="1300" lang="en-US"/>
          </a:p>
        </p:txBody>
      </p:sp>
      <p:sp>
        <p:nvSpPr>
          <p:cNvPr id="1048803" name="Text 14"/>
          <p:cNvSpPr txBox="1"/>
          <p:nvPr/>
        </p:nvSpPr>
        <p:spPr>
          <a:xfrm>
            <a:off x="3566160" y="3291840"/>
            <a:ext cx="2103120" cy="2286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000" kern="0" lang="en-US" spc="300">
                <a:solidFill>
                  <a:srgbClr val="B54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dirty="0" sz="1000" lang="en-US"/>
          </a:p>
        </p:txBody>
      </p:sp>
      <p:sp>
        <p:nvSpPr>
          <p:cNvPr id="1048804" name="Text 15"/>
          <p:cNvSpPr txBox="1"/>
          <p:nvPr/>
        </p:nvSpPr>
        <p:spPr>
          <a:xfrm>
            <a:off x="3566160" y="3566160"/>
            <a:ext cx="2103120" cy="8229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300" lang="en-US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Replan the path at every step.</a:t>
            </a:r>
            <a:endParaRPr dirty="0" sz="1300" lang="en-US"/>
          </a:p>
        </p:txBody>
      </p:sp>
      <p:sp>
        <p:nvSpPr>
          <p:cNvPr id="1048805" name="Shape 16"/>
          <p:cNvSpPr/>
          <p:nvPr/>
        </p:nvSpPr>
        <p:spPr>
          <a:xfrm>
            <a:off x="6126480" y="1645920"/>
            <a:ext cx="2560320" cy="2834640"/>
          </a:xfrm>
          <a:prstGeom prst="rect"/>
          <a:solidFill>
            <a:srgbClr val="FFFFFF"/>
          </a:solidFill>
          <a:ln w="12700">
            <a:solidFill>
              <a:srgbClr val="D9D2BD"/>
            </a:solidFill>
            <a:prstDash val="solid"/>
          </a:ln>
        </p:spPr>
      </p:sp>
      <p:sp>
        <p:nvSpPr>
          <p:cNvPr id="1048806" name="Shape 17"/>
          <p:cNvSpPr/>
          <p:nvPr/>
        </p:nvSpPr>
        <p:spPr>
          <a:xfrm>
            <a:off x="6126480" y="1645920"/>
            <a:ext cx="2560320" cy="82296"/>
          </a:xfrm>
          <a:prstGeom prst="rect"/>
          <a:solidFill>
            <a:srgbClr val="5B8C3A"/>
          </a:solidFill>
          <a:ln w="12700">
            <a:solidFill>
              <a:srgbClr val="5B8C3A"/>
            </a:solidFill>
            <a:prstDash val="solid"/>
          </a:ln>
        </p:spPr>
      </p:sp>
      <p:sp>
        <p:nvSpPr>
          <p:cNvPr id="1048807" name="Text 18"/>
          <p:cNvSpPr txBox="1"/>
          <p:nvPr/>
        </p:nvSpPr>
        <p:spPr>
          <a:xfrm>
            <a:off x="6355080" y="1965960"/>
            <a:ext cx="2103120" cy="54864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700" lang="en-US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Battery runs out</a:t>
            </a:r>
            <a:endParaRPr dirty="0" sz="1700" lang="en-US"/>
          </a:p>
        </p:txBody>
      </p:sp>
      <p:sp>
        <p:nvSpPr>
          <p:cNvPr id="1048808" name="Text 19"/>
          <p:cNvSpPr txBox="1"/>
          <p:nvPr/>
        </p:nvSpPr>
        <p:spPr>
          <a:xfrm>
            <a:off x="6355080" y="2606040"/>
            <a:ext cx="2103120" cy="54864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300" lang="en-US">
                <a:solidFill>
                  <a:srgbClr val="6B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scout hits its step limit.</a:t>
            </a:r>
            <a:endParaRPr dirty="0" sz="1300" lang="en-US"/>
          </a:p>
        </p:txBody>
      </p:sp>
      <p:sp>
        <p:nvSpPr>
          <p:cNvPr id="1048809" name="Text 20"/>
          <p:cNvSpPr txBox="1"/>
          <p:nvPr/>
        </p:nvSpPr>
        <p:spPr>
          <a:xfrm>
            <a:off x="6355080" y="3291840"/>
            <a:ext cx="2103120" cy="2286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000" kern="0" lang="en-US" spc="300">
                <a:solidFill>
                  <a:srgbClr val="5B8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dirty="0" sz="1000" lang="en-US"/>
          </a:p>
        </p:txBody>
      </p:sp>
      <p:sp>
        <p:nvSpPr>
          <p:cNvPr id="1048810" name="Text 21"/>
          <p:cNvSpPr txBox="1"/>
          <p:nvPr/>
        </p:nvSpPr>
        <p:spPr>
          <a:xfrm>
            <a:off x="6355080" y="3566160"/>
            <a:ext cx="2103120" cy="8229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300" lang="en-US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and report the best finding so far.</a:t>
            </a:r>
            <a:endParaRPr dirty="0" sz="1300"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1E4"/>
        </a:solidFill>
      </p:bgPr>
    </p:bg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4" name="Text 0"/>
          <p:cNvSpPr txBox="1"/>
          <p:nvPr/>
        </p:nvSpPr>
        <p:spPr>
          <a:xfrm>
            <a:off x="548640" y="347472"/>
            <a:ext cx="4572000" cy="2286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100" kern="0" lang="en-US" spc="300">
                <a:solidFill>
                  <a:srgbClr val="D98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TESTING</a:t>
            </a:r>
            <a:endParaRPr dirty="0" sz="1100" lang="en-US"/>
          </a:p>
        </p:txBody>
      </p:sp>
      <p:sp>
        <p:nvSpPr>
          <p:cNvPr id="1048815" name="Text 1"/>
          <p:cNvSpPr txBox="1"/>
          <p:nvPr/>
        </p:nvSpPr>
        <p:spPr>
          <a:xfrm>
            <a:off x="548640" y="594360"/>
            <a:ext cx="8046720" cy="6400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3000" lang="en-US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 will test and measure</a:t>
            </a:r>
            <a:endParaRPr dirty="0" sz="3000" lang="en-US"/>
          </a:p>
        </p:txBody>
      </p:sp>
      <p:sp>
        <p:nvSpPr>
          <p:cNvPr id="1048816" name="Shape 2"/>
          <p:cNvSpPr/>
          <p:nvPr/>
        </p:nvSpPr>
        <p:spPr>
          <a:xfrm>
            <a:off x="548640" y="1280160"/>
            <a:ext cx="640080" cy="45720"/>
          </a:xfrm>
          <a:prstGeom prst="rect"/>
          <a:solidFill>
            <a:srgbClr val="D98E2B"/>
          </a:solidFill>
          <a:ln w="12700">
            <a:solidFill>
              <a:srgbClr val="D98E2B"/>
            </a:solidFill>
            <a:prstDash val="solid"/>
          </a:ln>
        </p:spPr>
      </p:sp>
      <p:sp>
        <p:nvSpPr>
          <p:cNvPr id="1048817" name="Text 3"/>
          <p:cNvSpPr txBox="1"/>
          <p:nvPr/>
        </p:nvSpPr>
        <p:spPr>
          <a:xfrm>
            <a:off x="8138160" y="4663440"/>
            <a:ext cx="457200" cy="228600"/>
          </a:xfrm>
          <a:prstGeom prst="rect"/>
          <a:noFill/>
        </p:spPr>
        <p:txBody>
          <a:bodyPr anchor="t" bIns="0" lIns="0" rIns="0" rtlCol="0" tIns="0" wrap="square"/>
          <a:p>
            <a:pPr algn="r" indent="0" marL="0">
              <a:buNone/>
            </a:pPr>
            <a:r>
              <a:rPr dirty="0" sz="1100" lang="en-US">
                <a:solidFill>
                  <a:srgbClr val="6B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dirty="0" sz="1100" lang="en-US"/>
          </a:p>
        </p:txBody>
      </p:sp>
      <p:sp>
        <p:nvSpPr>
          <p:cNvPr id="1048818" name="Text 4"/>
          <p:cNvSpPr txBox="1"/>
          <p:nvPr/>
        </p:nvSpPr>
        <p:spPr>
          <a:xfrm>
            <a:off x="548640" y="1554480"/>
            <a:ext cx="8046720" cy="3657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500" lang="en-US">
                <a:solidFill>
                  <a:srgbClr val="6B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run all four algorithms on the same farms, so any difference comes from the search.</a:t>
            </a:r>
            <a:endParaRPr dirty="0" sz="1500" lang="en-US"/>
          </a:p>
        </p:txBody>
      </p:sp>
      <p:sp>
        <p:nvSpPr>
          <p:cNvPr id="1048819" name="Shape 5"/>
          <p:cNvSpPr/>
          <p:nvPr/>
        </p:nvSpPr>
        <p:spPr>
          <a:xfrm>
            <a:off x="548640" y="2286000"/>
            <a:ext cx="1874520" cy="54864"/>
          </a:xfrm>
          <a:prstGeom prst="rect"/>
          <a:solidFill>
            <a:srgbClr val="5B8C3A"/>
          </a:solidFill>
          <a:ln w="12700">
            <a:solidFill>
              <a:srgbClr val="5B8C3A"/>
            </a:solidFill>
            <a:prstDash val="solid"/>
          </a:ln>
        </p:spPr>
      </p:sp>
      <p:sp>
        <p:nvSpPr>
          <p:cNvPr id="1048820" name="Text 6"/>
          <p:cNvSpPr txBox="1"/>
          <p:nvPr/>
        </p:nvSpPr>
        <p:spPr>
          <a:xfrm>
            <a:off x="548640" y="2514600"/>
            <a:ext cx="1874520" cy="54864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600" lang="en-US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Steps to first pest</a:t>
            </a:r>
            <a:endParaRPr dirty="0" sz="1600" lang="en-US"/>
          </a:p>
        </p:txBody>
      </p:sp>
      <p:sp>
        <p:nvSpPr>
          <p:cNvPr id="1048821" name="Text 7"/>
          <p:cNvSpPr txBox="1"/>
          <p:nvPr/>
        </p:nvSpPr>
        <p:spPr>
          <a:xfrm>
            <a:off x="548640" y="3108960"/>
            <a:ext cx="1874520" cy="7315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300" lang="en-US">
                <a:solidFill>
                  <a:srgbClr val="6B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fast it finds one.</a:t>
            </a:r>
            <a:endParaRPr dirty="0" sz="1300" lang="en-US"/>
          </a:p>
        </p:txBody>
      </p:sp>
      <p:sp>
        <p:nvSpPr>
          <p:cNvPr id="1048822" name="Shape 8"/>
          <p:cNvSpPr/>
          <p:nvPr/>
        </p:nvSpPr>
        <p:spPr>
          <a:xfrm>
            <a:off x="2606040" y="2286000"/>
            <a:ext cx="1874520" cy="54864"/>
          </a:xfrm>
          <a:prstGeom prst="rect"/>
          <a:solidFill>
            <a:srgbClr val="1F3D2B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1048823" name="Text 9"/>
          <p:cNvSpPr txBox="1"/>
          <p:nvPr/>
        </p:nvSpPr>
        <p:spPr>
          <a:xfrm>
            <a:off x="2606040" y="2514600"/>
            <a:ext cx="1874520" cy="54864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600" lang="en-US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Pests found</a:t>
            </a:r>
            <a:endParaRPr dirty="0" sz="1600" lang="en-US"/>
          </a:p>
        </p:txBody>
      </p:sp>
      <p:sp>
        <p:nvSpPr>
          <p:cNvPr id="1048824" name="Text 10"/>
          <p:cNvSpPr txBox="1"/>
          <p:nvPr/>
        </p:nvSpPr>
        <p:spPr>
          <a:xfrm>
            <a:off x="2606040" y="3108960"/>
            <a:ext cx="1874520" cy="7315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300" lang="en-US">
                <a:solidFill>
                  <a:srgbClr val="6B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within the step limit.</a:t>
            </a:r>
            <a:endParaRPr dirty="0" sz="1300" lang="en-US"/>
          </a:p>
        </p:txBody>
      </p:sp>
      <p:sp>
        <p:nvSpPr>
          <p:cNvPr id="1048825" name="Shape 11"/>
          <p:cNvSpPr/>
          <p:nvPr/>
        </p:nvSpPr>
        <p:spPr>
          <a:xfrm>
            <a:off x="4663440" y="2286000"/>
            <a:ext cx="1874520" cy="54864"/>
          </a:xfrm>
          <a:prstGeom prst="rect"/>
          <a:solidFill>
            <a:srgbClr val="D98E2B"/>
          </a:solidFill>
          <a:ln w="12700">
            <a:solidFill>
              <a:srgbClr val="D98E2B"/>
            </a:solidFill>
            <a:prstDash val="solid"/>
          </a:ln>
        </p:spPr>
      </p:sp>
      <p:sp>
        <p:nvSpPr>
          <p:cNvPr id="1048826" name="Text 12"/>
          <p:cNvSpPr txBox="1"/>
          <p:nvPr/>
        </p:nvSpPr>
        <p:spPr>
          <a:xfrm>
            <a:off x="4663440" y="2514600"/>
            <a:ext cx="1874520" cy="54864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600" lang="en-US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Distance travelled</a:t>
            </a:r>
            <a:endParaRPr dirty="0" sz="1600" lang="en-US"/>
          </a:p>
        </p:txBody>
      </p:sp>
      <p:sp>
        <p:nvSpPr>
          <p:cNvPr id="1048827" name="Text 13"/>
          <p:cNvSpPr txBox="1"/>
          <p:nvPr/>
        </p:nvSpPr>
        <p:spPr>
          <a:xfrm>
            <a:off x="4663440" y="3108960"/>
            <a:ext cx="1874520" cy="7315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300" lang="en-US">
                <a:solidFill>
                  <a:srgbClr val="6B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moves made.</a:t>
            </a:r>
            <a:endParaRPr dirty="0" sz="1300" lang="en-US"/>
          </a:p>
        </p:txBody>
      </p:sp>
      <p:sp>
        <p:nvSpPr>
          <p:cNvPr id="1048828" name="Shape 14"/>
          <p:cNvSpPr/>
          <p:nvPr/>
        </p:nvSpPr>
        <p:spPr>
          <a:xfrm>
            <a:off x="6720840" y="2286000"/>
            <a:ext cx="1874520" cy="54864"/>
          </a:xfrm>
          <a:prstGeom prst="rect"/>
          <a:solidFill>
            <a:srgbClr val="B5462F"/>
          </a:solidFill>
          <a:ln w="12700">
            <a:solidFill>
              <a:srgbClr val="B5462F"/>
            </a:solidFill>
            <a:prstDash val="solid"/>
          </a:ln>
        </p:spPr>
      </p:sp>
      <p:sp>
        <p:nvSpPr>
          <p:cNvPr id="1048829" name="Text 15"/>
          <p:cNvSpPr txBox="1"/>
          <p:nvPr/>
        </p:nvSpPr>
        <p:spPr>
          <a:xfrm>
            <a:off x="6720840" y="2514600"/>
            <a:ext cx="1874520" cy="54864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600" lang="en-US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Handling mistakes</a:t>
            </a:r>
            <a:endParaRPr dirty="0" sz="1600" lang="en-US"/>
          </a:p>
        </p:txBody>
      </p:sp>
      <p:sp>
        <p:nvSpPr>
          <p:cNvPr id="1048830" name="Text 16"/>
          <p:cNvSpPr txBox="1"/>
          <p:nvPr/>
        </p:nvSpPr>
        <p:spPr>
          <a:xfrm>
            <a:off x="6720840" y="3108960"/>
            <a:ext cx="1874520" cy="7315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300" lang="en-US">
                <a:solidFill>
                  <a:srgbClr val="6B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with bad photos.</a:t>
            </a:r>
            <a:endParaRPr dirty="0" sz="1300" lang="en-US"/>
          </a:p>
        </p:txBody>
      </p:sp>
      <p:sp>
        <p:nvSpPr>
          <p:cNvPr id="1048831" name="Text 17"/>
          <p:cNvSpPr txBox="1"/>
          <p:nvPr/>
        </p:nvSpPr>
        <p:spPr>
          <a:xfrm>
            <a:off x="548640" y="4069080"/>
            <a:ext cx="8046720" cy="3657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500" i="1" lang="en-US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hypothesis: Greedy and A* find pests in fewer steps than BFS and DFS.</a:t>
            </a:r>
            <a:endParaRPr dirty="0" sz="1500"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D2B"/>
        </a:solidFill>
      </p:bgPr>
    </p:bg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5" name="Text 0"/>
          <p:cNvSpPr txBox="1"/>
          <p:nvPr/>
        </p:nvSpPr>
        <p:spPr>
          <a:xfrm>
            <a:off x="548640" y="347472"/>
            <a:ext cx="4572000" cy="2286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100" kern="0" lang="en-US" spc="300">
                <a:solidFill>
                  <a:srgbClr val="D98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WHY IT MATTERS</a:t>
            </a:r>
            <a:endParaRPr dirty="0" sz="1100" lang="en-US"/>
          </a:p>
        </p:txBody>
      </p:sp>
      <p:sp>
        <p:nvSpPr>
          <p:cNvPr id="1048836" name="Text 1"/>
          <p:cNvSpPr txBox="1"/>
          <p:nvPr/>
        </p:nvSpPr>
        <p:spPr>
          <a:xfrm>
            <a:off x="548640" y="594360"/>
            <a:ext cx="8046720" cy="6400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3000" lang="en-US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matters</a:t>
            </a:r>
            <a:endParaRPr dirty="0" sz="3000" lang="en-US"/>
          </a:p>
        </p:txBody>
      </p:sp>
      <p:sp>
        <p:nvSpPr>
          <p:cNvPr id="1048837" name="Shape 2"/>
          <p:cNvSpPr/>
          <p:nvPr/>
        </p:nvSpPr>
        <p:spPr>
          <a:xfrm>
            <a:off x="548640" y="1280160"/>
            <a:ext cx="640080" cy="45720"/>
          </a:xfrm>
          <a:prstGeom prst="rect"/>
          <a:solidFill>
            <a:srgbClr val="D98E2B"/>
          </a:solidFill>
          <a:ln w="12700">
            <a:solidFill>
              <a:srgbClr val="D98E2B"/>
            </a:solidFill>
            <a:prstDash val="solid"/>
          </a:ln>
        </p:spPr>
      </p:sp>
      <p:sp>
        <p:nvSpPr>
          <p:cNvPr id="1048838" name="Text 3"/>
          <p:cNvSpPr txBox="1"/>
          <p:nvPr/>
        </p:nvSpPr>
        <p:spPr>
          <a:xfrm>
            <a:off x="548640" y="1828800"/>
            <a:ext cx="3657600" cy="3657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2200" lang="en-US">
                <a:solidFill>
                  <a:srgbClr val="D98E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Course fit</a:t>
            </a:r>
            <a:endParaRPr dirty="0" sz="2200" lang="en-US"/>
          </a:p>
        </p:txBody>
      </p:sp>
      <p:sp>
        <p:nvSpPr>
          <p:cNvPr id="1048839" name="Text 4"/>
          <p:cNvSpPr txBox="1"/>
          <p:nvPr/>
        </p:nvSpPr>
        <p:spPr>
          <a:xfrm>
            <a:off x="548640" y="2331720"/>
            <a:ext cx="3566160" cy="16459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5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core AI ideas: agents, search algorithms, heuristics and comparing BFS, DFS, Greedy and A*.</a:t>
            </a:r>
            <a:endParaRPr dirty="0" sz="1500" lang="en-US"/>
          </a:p>
        </p:txBody>
      </p:sp>
      <p:sp>
        <p:nvSpPr>
          <p:cNvPr id="1048840" name="Shape 5"/>
          <p:cNvSpPr/>
          <p:nvPr/>
        </p:nvSpPr>
        <p:spPr>
          <a:xfrm>
            <a:off x="4572000" y="1828800"/>
            <a:ext cx="13716" cy="2377440"/>
          </a:xfrm>
          <a:prstGeom prst="rect"/>
          <a:solidFill>
            <a:srgbClr val="5B8C3A"/>
          </a:solidFill>
          <a:ln w="12700">
            <a:solidFill>
              <a:srgbClr val="5B8C3A"/>
            </a:solidFill>
            <a:prstDash val="solid"/>
          </a:ln>
        </p:spPr>
      </p:sp>
      <p:sp>
        <p:nvSpPr>
          <p:cNvPr id="1048841" name="Text 6"/>
          <p:cNvSpPr txBox="1"/>
          <p:nvPr/>
        </p:nvSpPr>
        <p:spPr>
          <a:xfrm>
            <a:off x="4937760" y="1828800"/>
            <a:ext cx="3657600" cy="3657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2200" lang="en-US">
                <a:solidFill>
                  <a:srgbClr val="D98E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farmers</a:t>
            </a:r>
            <a:endParaRPr dirty="0" sz="2200" lang="en-US"/>
          </a:p>
        </p:txBody>
      </p:sp>
      <p:sp>
        <p:nvSpPr>
          <p:cNvPr id="1048842" name="Text 7"/>
          <p:cNvSpPr txBox="1"/>
          <p:nvPr/>
        </p:nvSpPr>
        <p:spPr>
          <a:xfrm>
            <a:off x="4937760" y="2331720"/>
            <a:ext cx="3566160" cy="16459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5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pests with fewer checks means faster action, less crop damage and less pesticide.</a:t>
            </a:r>
            <a:endParaRPr dirty="0" sz="1500"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D2B"/>
        </a:solidFill>
      </p:bgPr>
    </p:bg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6" name="Shape 0"/>
          <p:cNvSpPr/>
          <p:nvPr/>
        </p:nvSpPr>
        <p:spPr>
          <a:xfrm>
            <a:off x="5760720" y="914400"/>
            <a:ext cx="2926080" cy="2926080"/>
          </a:xfrm>
          <a:prstGeom prst="ellipse"/>
          <a:solidFill>
            <a:srgbClr val="5B8C3A"/>
          </a:solidFill>
          <a:ln w="12700">
            <a:solidFill>
              <a:srgbClr val="5B8C3A"/>
            </a:solidFill>
            <a:prstDash val="solid"/>
          </a:ln>
        </p:spPr>
      </p:sp>
      <p:sp>
        <p:nvSpPr>
          <p:cNvPr id="1048847" name="Shape 1"/>
          <p:cNvSpPr/>
          <p:nvPr/>
        </p:nvSpPr>
        <p:spPr>
          <a:xfrm>
            <a:off x="6080760" y="1234440"/>
            <a:ext cx="2286000" cy="2286000"/>
          </a:xfrm>
          <a:prstGeom prst="ellipse"/>
          <a:solidFill>
            <a:srgbClr val="74A44C"/>
          </a:solidFill>
          <a:ln w="12700">
            <a:solidFill>
              <a:srgbClr val="74A44C"/>
            </a:solidFill>
            <a:prstDash val="solid"/>
          </a:ln>
        </p:spPr>
      </p:sp>
      <p:sp>
        <p:nvSpPr>
          <p:cNvPr id="1048848" name="Shape 2"/>
          <p:cNvSpPr/>
          <p:nvPr/>
        </p:nvSpPr>
        <p:spPr>
          <a:xfrm>
            <a:off x="6492240" y="1737360"/>
            <a:ext cx="457200" cy="457200"/>
          </a:xfrm>
          <a:prstGeom prst="ellipse"/>
          <a:solidFill>
            <a:srgbClr val="1F3D2B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1048849" name="Shape 3"/>
          <p:cNvSpPr/>
          <p:nvPr/>
        </p:nvSpPr>
        <p:spPr>
          <a:xfrm>
            <a:off x="7315200" y="1463040"/>
            <a:ext cx="320040" cy="320040"/>
          </a:xfrm>
          <a:prstGeom prst="ellipse"/>
          <a:solidFill>
            <a:srgbClr val="1F3D2B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1048850" name="Shape 4"/>
          <p:cNvSpPr/>
          <p:nvPr/>
        </p:nvSpPr>
        <p:spPr>
          <a:xfrm>
            <a:off x="7498080" y="2468880"/>
            <a:ext cx="502920" cy="502920"/>
          </a:xfrm>
          <a:prstGeom prst="ellipse"/>
          <a:solidFill>
            <a:srgbClr val="1F3D2B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1048851" name="Shape 5"/>
          <p:cNvSpPr/>
          <p:nvPr/>
        </p:nvSpPr>
        <p:spPr>
          <a:xfrm>
            <a:off x="6583680" y="2651760"/>
            <a:ext cx="274320" cy="274320"/>
          </a:xfrm>
          <a:prstGeom prst="ellipse"/>
          <a:solidFill>
            <a:srgbClr val="1F3D2B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1048852" name="Shape 6"/>
          <p:cNvSpPr/>
          <p:nvPr/>
        </p:nvSpPr>
        <p:spPr>
          <a:xfrm>
            <a:off x="6949440" y="2011680"/>
            <a:ext cx="201168" cy="201168"/>
          </a:xfrm>
          <a:prstGeom prst="ellipse"/>
          <a:solidFill>
            <a:srgbClr val="1F3D2B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1048853" name="Shape 7"/>
          <p:cNvSpPr/>
          <p:nvPr/>
        </p:nvSpPr>
        <p:spPr>
          <a:xfrm>
            <a:off x="7909560" y="1371600"/>
            <a:ext cx="274320" cy="274320"/>
          </a:xfrm>
          <a:prstGeom prst="ellipse"/>
          <a:solidFill>
            <a:srgbClr val="D98E2B"/>
          </a:solidFill>
          <a:ln w="12700">
            <a:solidFill>
              <a:srgbClr val="D98E2B"/>
            </a:solidFill>
            <a:prstDash val="solid"/>
          </a:ln>
        </p:spPr>
      </p:sp>
      <p:sp>
        <p:nvSpPr>
          <p:cNvPr id="1048854" name="Text 8"/>
          <p:cNvSpPr txBox="1"/>
          <p:nvPr/>
        </p:nvSpPr>
        <p:spPr>
          <a:xfrm>
            <a:off x="548640" y="1554480"/>
            <a:ext cx="5029200" cy="8229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4400" lang="en-US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dirty="0" sz="4400" lang="en-US"/>
          </a:p>
        </p:txBody>
      </p:sp>
      <p:sp>
        <p:nvSpPr>
          <p:cNvPr id="1048855" name="Text 9"/>
          <p:cNvSpPr txBox="1"/>
          <p:nvPr/>
        </p:nvSpPr>
        <p:spPr>
          <a:xfrm>
            <a:off x="548640" y="2514600"/>
            <a:ext cx="5029200" cy="3657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800" i="1" lang="en-US">
                <a:solidFill>
                  <a:srgbClr val="DD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We'd love to hear your feedback.</a:t>
            </a:r>
            <a:endParaRPr dirty="0" sz="1800" lang="en-US"/>
          </a:p>
        </p:txBody>
      </p:sp>
      <p:sp>
        <p:nvSpPr>
          <p:cNvPr id="1048856" name="Shape 10"/>
          <p:cNvSpPr/>
          <p:nvPr/>
        </p:nvSpPr>
        <p:spPr>
          <a:xfrm>
            <a:off x="548640" y="3108960"/>
            <a:ext cx="640080" cy="45720"/>
          </a:xfrm>
          <a:prstGeom prst="rect"/>
          <a:solidFill>
            <a:srgbClr val="D98E2B"/>
          </a:solidFill>
          <a:ln w="12700">
            <a:solidFill>
              <a:srgbClr val="D98E2B"/>
            </a:solidFill>
            <a:prstDash val="solid"/>
          </a:ln>
        </p:spPr>
      </p:sp>
      <p:sp>
        <p:nvSpPr>
          <p:cNvPr id="1048857" name="Text 11"/>
          <p:cNvSpPr txBox="1"/>
          <p:nvPr/>
        </p:nvSpPr>
        <p:spPr>
          <a:xfrm>
            <a:off x="548640" y="3337560"/>
            <a:ext cx="4572000" cy="3657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2000" lang="en-US">
                <a:solidFill>
                  <a:srgbClr val="D98E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dirty="0" sz="2000"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Company>PptxGenJS</Company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AI Pest Detector for Farms</dc:title>
  <dc:creator>Aws Idris, Wajd Almadani, Yousef Alattas</dc:creator>
  <cp:lastModifiedBy>Aws Idris, Wajd Almadani, Yousef Alattas</cp:lastModifiedBy>
  <dcterms:created xsi:type="dcterms:W3CDTF">2026-10-05T04:31:58Z</dcterms:created>
  <dcterms:modified xsi:type="dcterms:W3CDTF">2026-10-05T10:32:40Z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3e91e60a46934a01b1dd0f7d532e5bd6_23</vt:lpwstr>
  </property>
</Properties>
</file>